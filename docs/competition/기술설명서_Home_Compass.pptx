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38d3ee46704164" /><Relationship Type="http://schemas.openxmlformats.org/officeDocument/2006/relationships/extended-properties" Target="/docProps/app.xml" Id="R4d8197b677f84377" /><Relationship Type="http://schemas.openxmlformats.org/officeDocument/2006/relationships/officeDocument" Target="/ppt/presentation.xml" Id="Rb0b981c97274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5a54d46a7c43e0"/>
  </p:sldMasterIdLst>
  <p:notesMasterIdLst>
    <p:notesMasterId xmlns:r="http://schemas.openxmlformats.org/officeDocument/2006/relationships" r:id="R24ea1c0ee8cc47a7"/>
  </p:notesMasterIdLst>
  <p:sldIdLst>
    <p:sldId xmlns:r="http://schemas.openxmlformats.org/officeDocument/2006/relationships" id="256" r:id="R9ed444c882fe4184"/>
    <p:sldId xmlns:r="http://schemas.openxmlformats.org/officeDocument/2006/relationships" id="257" r:id="R7ca88549ddcf4a81"/>
    <p:sldId xmlns:r="http://schemas.openxmlformats.org/officeDocument/2006/relationships" id="258" r:id="R74b3a04ea15b4af2"/>
    <p:sldId xmlns:r="http://schemas.openxmlformats.org/officeDocument/2006/relationships" id="259" r:id="R7fdf7b08de794288"/>
    <p:sldId xmlns:r="http://schemas.openxmlformats.org/officeDocument/2006/relationships" id="260" r:id="R83f874c18e60412b"/>
    <p:sldId xmlns:r="http://schemas.openxmlformats.org/officeDocument/2006/relationships" id="261" r:id="Rb9e34482febc4db9"/>
    <p:sldId xmlns:r="http://schemas.openxmlformats.org/officeDocument/2006/relationships" id="262" r:id="R0aeaa18ab9fa4f84"/>
    <p:sldId xmlns:r="http://schemas.openxmlformats.org/officeDocument/2006/relationships" id="263" r:id="R10a1e243fd4b46fc"/>
    <p:sldId xmlns:r="http://schemas.openxmlformats.org/officeDocument/2006/relationships" id="264" r:id="Rf3dd3c6052424d16"/>
    <p:sldId xmlns:r="http://schemas.openxmlformats.org/officeDocument/2006/relationships" id="265" r:id="Rbc35ec793a204a40"/>
    <p:sldId xmlns:r="http://schemas.openxmlformats.org/officeDocument/2006/relationships" id="266" r:id="Rff5824c021bc45b6"/>
    <p:sldId xmlns:r="http://schemas.openxmlformats.org/officeDocument/2006/relationships" id="267" r:id="R838843702109445a"/>
    <p:sldId xmlns:r="http://schemas.openxmlformats.org/officeDocument/2006/relationships" id="268" r:id="R964f7462c83a458d"/>
    <p:sldId xmlns:r="http://schemas.openxmlformats.org/officeDocument/2006/relationships" id="269" r:id="R6e53d2915f3f4281"/>
    <p:sldId xmlns:r="http://schemas.openxmlformats.org/officeDocument/2006/relationships" id="270" r:id="Rda3a473607fb448d"/>
    <p:sldId xmlns:r="http://schemas.openxmlformats.org/officeDocument/2006/relationships" id="271" r:id="Rfcbdf923f07b4803"/>
    <p:sldId xmlns:r="http://schemas.openxmlformats.org/officeDocument/2006/relationships" id="272" r:id="Rde879d710c934bea"/>
    <p:sldId xmlns:r="http://schemas.openxmlformats.org/officeDocument/2006/relationships" id="273" r:id="Rd93418d5b67448eb"/>
    <p:sldId xmlns:r="http://schemas.openxmlformats.org/officeDocument/2006/relationships" id="274" r:id="R8ff4b5f0976b427c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128516a6f74f3c" /><Relationship Type="http://schemas.openxmlformats.org/officeDocument/2006/relationships/slideMaster" Target="/ppt/slideMasters/slideMaster1.xml" Id="R2b5a54d46a7c43e0" /><Relationship Type="http://schemas.openxmlformats.org/officeDocument/2006/relationships/notesMaster" Target="/ppt/notesMasters/notesMaster1.xml" Id="R24ea1c0ee8cc47a7" /><Relationship Type="http://schemas.openxmlformats.org/officeDocument/2006/relationships/presProps" Target="/ppt/presProps.xml" Id="Raf16e1ef2dcf494d" /><Relationship Type="http://schemas.openxmlformats.org/officeDocument/2006/relationships/tableStyles" Target="/ppt/tableStyles.xml" Id="R21c78dac80e342da" /><Relationship Type="http://schemas.openxmlformats.org/officeDocument/2006/relationships/slide" Target="/ppt/slides/slide1.xml" Id="R9ed444c882fe4184" /><Relationship Type="http://schemas.openxmlformats.org/officeDocument/2006/relationships/slide" Target="/ppt/slides/slide2.xml" Id="R7ca88549ddcf4a81" /><Relationship Type="http://schemas.openxmlformats.org/officeDocument/2006/relationships/slide" Target="/ppt/slides/slide3.xml" Id="R74b3a04ea15b4af2" /><Relationship Type="http://schemas.openxmlformats.org/officeDocument/2006/relationships/slide" Target="/ppt/slides/slide4.xml" Id="R7fdf7b08de794288" /><Relationship Type="http://schemas.openxmlformats.org/officeDocument/2006/relationships/slide" Target="/ppt/slides/slide5.xml" Id="R83f874c18e60412b" /><Relationship Type="http://schemas.openxmlformats.org/officeDocument/2006/relationships/slide" Target="/ppt/slides/slide6.xml" Id="Rb9e34482febc4db9" /><Relationship Type="http://schemas.openxmlformats.org/officeDocument/2006/relationships/slide" Target="/ppt/slides/slide7.xml" Id="R0aeaa18ab9fa4f84" /><Relationship Type="http://schemas.openxmlformats.org/officeDocument/2006/relationships/slide" Target="/ppt/slides/slide8.xml" Id="R10a1e243fd4b46fc" /><Relationship Type="http://schemas.openxmlformats.org/officeDocument/2006/relationships/slide" Target="/ppt/slides/slide9.xml" Id="Rf3dd3c6052424d16" /><Relationship Type="http://schemas.openxmlformats.org/officeDocument/2006/relationships/slide" Target="/ppt/slides/slide10.xml" Id="Rbc35ec793a204a40" /><Relationship Type="http://schemas.openxmlformats.org/officeDocument/2006/relationships/slide" Target="/ppt/slides/slide11.xml" Id="Rff5824c021bc45b6" /><Relationship Type="http://schemas.openxmlformats.org/officeDocument/2006/relationships/slide" Target="/ppt/slides/slide12.xml" Id="R838843702109445a" /><Relationship Type="http://schemas.openxmlformats.org/officeDocument/2006/relationships/slide" Target="/ppt/slides/slide13.xml" Id="R964f7462c83a458d" /><Relationship Type="http://schemas.openxmlformats.org/officeDocument/2006/relationships/slide" Target="/ppt/slides/slide14.xml" Id="R6e53d2915f3f4281" /><Relationship Type="http://schemas.openxmlformats.org/officeDocument/2006/relationships/slide" Target="/ppt/slides/slide15.xml" Id="Rda3a473607fb448d" /><Relationship Type="http://schemas.openxmlformats.org/officeDocument/2006/relationships/slide" Target="/ppt/slides/slide16.xml" Id="Rfcbdf923f07b4803" /><Relationship Type="http://schemas.openxmlformats.org/officeDocument/2006/relationships/slide" Target="/ppt/slides/slide17.xml" Id="Rde879d710c934bea" /><Relationship Type="http://schemas.openxmlformats.org/officeDocument/2006/relationships/slide" Target="/ppt/slides/slide18.xml" Id="Rd93418d5b67448eb" /><Relationship Type="http://schemas.openxmlformats.org/officeDocument/2006/relationships/slide" Target="/ppt/slides/slide19.xml" Id="R8ff4b5f0976b42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87b72f375a47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21625bbc0e41c1" /><Relationship Type="http://schemas.openxmlformats.org/officeDocument/2006/relationships/notesMaster" Target="/ppt/notesMasters/notesMaster1.xml" Id="Rffa86ecb22e143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06d07d8bb649dc" /><Relationship Type="http://schemas.openxmlformats.org/officeDocument/2006/relationships/notesMaster" Target="/ppt/notesMasters/notesMaster1.xml" Id="R280b6e14323640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626ffddb6c44ed" /><Relationship Type="http://schemas.openxmlformats.org/officeDocument/2006/relationships/notesMaster" Target="/ppt/notesMasters/notesMaster1.xml" Id="R05c2482e83db4e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e441f5184b4438" /><Relationship Type="http://schemas.openxmlformats.org/officeDocument/2006/relationships/notesMaster" Target="/ppt/notesMasters/notesMaster1.xml" Id="R17d127034f8743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1e0c533e254c1f" /><Relationship Type="http://schemas.openxmlformats.org/officeDocument/2006/relationships/notesMaster" Target="/ppt/notesMasters/notesMaster1.xml" Id="R0eafdca478934c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6b9e6be77344f2" /><Relationship Type="http://schemas.openxmlformats.org/officeDocument/2006/relationships/notesMaster" Target="/ppt/notesMasters/notesMaster1.xml" Id="Rb91aeb27c62e49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89c93990bb492a" /><Relationship Type="http://schemas.openxmlformats.org/officeDocument/2006/relationships/notesMaster" Target="/ppt/notesMasters/notesMaster1.xml" Id="R4af8d7ab851148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453761e073479d" /><Relationship Type="http://schemas.openxmlformats.org/officeDocument/2006/relationships/notesMaster" Target="/ppt/notesMasters/notesMaster1.xml" Id="Rbe2525dd7a3d48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718843f0a6489f" /><Relationship Type="http://schemas.openxmlformats.org/officeDocument/2006/relationships/notesMaster" Target="/ppt/notesMasters/notesMaster1.xml" Id="R0bb47a872f9545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53b3dc2f764435" /><Relationship Type="http://schemas.openxmlformats.org/officeDocument/2006/relationships/notesMaster" Target="/ppt/notesMasters/notesMaster1.xml" Id="R387be7349fde4e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893a54ba934d0e" /><Relationship Type="http://schemas.openxmlformats.org/officeDocument/2006/relationships/notesMaster" Target="/ppt/notesMasters/notesMaster1.xml" Id="Rec23f0ec49ae4b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bc9b8c7e6c4255" /><Relationship Type="http://schemas.openxmlformats.org/officeDocument/2006/relationships/notesMaster" Target="/ppt/notesMasters/notesMaster1.xml" Id="Rd19d2985032d4d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1ea9a8d3114350" /><Relationship Type="http://schemas.openxmlformats.org/officeDocument/2006/relationships/notesMaster" Target="/ppt/notesMasters/notesMaster1.xml" Id="R105e55da9e8941c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8187304429428b" /><Relationship Type="http://schemas.openxmlformats.org/officeDocument/2006/relationships/notesMaster" Target="/ppt/notesMasters/notesMaster1.xml" Id="Rf45b5117e4d44d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9399dca68142ec" /><Relationship Type="http://schemas.openxmlformats.org/officeDocument/2006/relationships/notesMaster" Target="/ppt/notesMasters/notesMaster1.xml" Id="Rc1a2ea36c72342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616cb31bf14681" /><Relationship Type="http://schemas.openxmlformats.org/officeDocument/2006/relationships/notesMaster" Target="/ppt/notesMasters/notesMaster1.xml" Id="R1849404efd5c41c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abdb10bbced4b48" /><Relationship Type="http://schemas.openxmlformats.org/officeDocument/2006/relationships/notesMaster" Target="/ppt/notesMasters/notesMaster1.xml" Id="Rf790b2d52de744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2f8019689d4970" /><Relationship Type="http://schemas.openxmlformats.org/officeDocument/2006/relationships/notesMaster" Target="/ppt/notesMasters/notesMaster1.xml" Id="Rbfa1e4824c7c4d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7db56fa70444e8" /><Relationship Type="http://schemas.openxmlformats.org/officeDocument/2006/relationships/notesMaster" Target="/ppt/notesMasters/notesMaster1.xml" Id="Rc877beb922704a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dc6b3b40b4f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f9373146ad48b9" /><Relationship Type="http://schemas.openxmlformats.org/officeDocument/2006/relationships/slideLayout" Target="/ppt/slideLayouts/slideLayout1.xml" Id="R17fc86ad917848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fc86ad917848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38c954e374fb2" /><Relationship Type="http://schemas.openxmlformats.org/officeDocument/2006/relationships/notesSlide" Target="/ppt/notesSlides/notesSlide1.xml" Id="R638912b98ab146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b48001ad64f7b" /><Relationship Type="http://schemas.openxmlformats.org/officeDocument/2006/relationships/notesSlide" Target="/ppt/notesSlides/notesSlide2.xml" Id="R404ac21ab34448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3daef7c4c4ee7" /><Relationship Type="http://schemas.openxmlformats.org/officeDocument/2006/relationships/notesSlide" Target="/ppt/notesSlides/notesSlide3.xml" Id="R363a0e3b80d548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fc473c6f1412f" /><Relationship Type="http://schemas.openxmlformats.org/officeDocument/2006/relationships/image" Target="/ppt/media/image.png" Id="R6f9ae87a0bd1405c" /><Relationship Type="http://schemas.openxmlformats.org/officeDocument/2006/relationships/notesSlide" Target="/ppt/notesSlides/notesSlide4.xml" Id="Rb7ee5340e7a849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18160c0d34436" /><Relationship Type="http://schemas.openxmlformats.org/officeDocument/2006/relationships/notesSlide" Target="/ppt/notesSlides/notesSlide5.xml" Id="R68f054ef9f0647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ac8ac0b144f05" /><Relationship Type="http://schemas.openxmlformats.org/officeDocument/2006/relationships/notesSlide" Target="/ppt/notesSlides/notesSlide6.xml" Id="R946385b39b9b4b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e9ebfad3f4f08" /><Relationship Type="http://schemas.openxmlformats.org/officeDocument/2006/relationships/notesSlide" Target="/ppt/notesSlides/notesSlide7.xml" Id="Rcced807d91e048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638f94d334e5f" /><Relationship Type="http://schemas.openxmlformats.org/officeDocument/2006/relationships/notesSlide" Target="/ppt/notesSlides/notesSlide8.xml" Id="R80a9e25aea5948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8b339bd4d4b9b" /><Relationship Type="http://schemas.openxmlformats.org/officeDocument/2006/relationships/notesSlide" Target="/ppt/notesSlides/notesSlide9.xml" Id="R59df45bc56fc40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298ec79b547cb" /><Relationship Type="http://schemas.openxmlformats.org/officeDocument/2006/relationships/notesSlide" Target="/ppt/notesSlides/notesSlide10.xml" Id="R633c8a78c7da46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0e737b0ee496c" /><Relationship Type="http://schemas.openxmlformats.org/officeDocument/2006/relationships/notesSlide" Target="/ppt/notesSlides/notesSlide11.xml" Id="R8f5cbe7217e747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edfc8f91f4987" /><Relationship Type="http://schemas.openxmlformats.org/officeDocument/2006/relationships/notesSlide" Target="/ppt/notesSlides/notesSlide12.xml" Id="R3da03687ccb243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d7cca2c154b7f" /><Relationship Type="http://schemas.openxmlformats.org/officeDocument/2006/relationships/notesSlide" Target="/ppt/notesSlides/notesSlide13.xml" Id="R04551360de7747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b9c91370e4a14" /><Relationship Type="http://schemas.openxmlformats.org/officeDocument/2006/relationships/notesSlide" Target="/ppt/notesSlides/notesSlide14.xml" Id="Rd093727d952e44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847fd5a744cee" /><Relationship Type="http://schemas.openxmlformats.org/officeDocument/2006/relationships/notesSlide" Target="/ppt/notesSlides/notesSlide15.xml" Id="R247344d1dce34b4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12d11834944a5" /><Relationship Type="http://schemas.openxmlformats.org/officeDocument/2006/relationships/notesSlide" Target="/ppt/notesSlides/notesSlide16.xml" Id="R4292efb0432b41a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74c5d5a4343b8" /><Relationship Type="http://schemas.openxmlformats.org/officeDocument/2006/relationships/image" Target="/ppt/media/image2.png" Id="Rd3cef5bc83cd46ba" /><Relationship Type="http://schemas.openxmlformats.org/officeDocument/2006/relationships/notesSlide" Target="/ppt/notesSlides/notesSlide17.xml" Id="R509fd784ffa14ba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7f762fa57415a" /><Relationship Type="http://schemas.openxmlformats.org/officeDocument/2006/relationships/notesSlide" Target="/ppt/notesSlides/notesSlide18.xml" Id="R09afaa4e528b4b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1a7bb45f84348" /><Relationship Type="http://schemas.openxmlformats.org/officeDocument/2006/relationships/notesSlide" Target="/ppt/notesSlides/notesSlide19.xml" Id="Ra3ae82b8a96f4c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F34DCF1-DB38-4548-A553-5CE78DE4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7724531-62BC-437F-9155-BFFB465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"/>
            <a:ext cx="342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F4E8D0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F4E8D0"/>
                </a:solidFill>
                <a:latin typeface="맑은 고딕"/>
                <a:ea typeface="맑은 고딕"/>
                <a:cs typeface="맑은 고딕"/>
              </a:rPr>
              <a:t>2026 금융 AI Challenge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F4E8D0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F4E8D0"/>
                </a:solidFill>
                <a:latin typeface="맑은 고딕"/>
                <a:ea typeface="맑은 고딕"/>
                <a:cs typeface="맑은 고딕"/>
              </a:rPr>
              <a:t>기술설명서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5C2D5E3-082F-44C4-BDC4-2988BE4D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819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4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Home_Compass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D97BFCE-E389-409C-A140-0F656064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CFD8D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CFD8DF"/>
                </a:solidFill>
                <a:latin typeface="맑은 고딕"/>
                <a:ea typeface="맑은 고딕"/>
                <a:cs typeface="맑은 고딕"/>
              </a:rPr>
              <a:t>청년 주거 금융 의사결정 서비스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45DA0809-3CE9-48DE-A95D-F2F38F86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7913"/>
            </a:solidFill>
            <a:prstDash val="solid"/>
          </a:ln>
        </p:spPr>
      </p:sp>
      <p:sp>
        <p:nvSpPr>
          <p:cNvPr id="6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E1EE967B-5524-4744-85BA-200F89E6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86175"/>
            <a:ext cx="7429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6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청년 임차 가구의 월 주거비 상한, 전월세 총비용, 정책 자격, 보증금 위험을</a:t>
            </a:r>
          </a:p>
          <a:p xmlns:a="http://schemas.openxmlformats.org/drawingml/2006/main">
            <a:pPr algn="l">
              <a:lnSpc>
                <a:spcPct val="126000"/>
              </a:lnSpc>
              <a:buNone/>
              <a:defRPr sz="16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기준으로 계산하고 근거까지 보여줍니다.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03EB6888-5D60-4F28-8760-2774B93F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76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A9B6C0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A9B6C0"/>
                </a:solidFill>
                <a:latin typeface="맑은 고딕"/>
                <a:ea typeface="맑은 고딕"/>
                <a:cs typeface="맑은 고딕"/>
              </a:rPr>
              <a:t>기술 구조와 검증 범위, 19쪽</a:t>
            </a:r>
          </a:p>
        </p:txBody>
      </p:sp>
      <p:sp>
        <p:nvSpPr>
          <p:cNvPr id="8" name="cover-index">
            <a:extLst xmlns:a="http://schemas.openxmlformats.org/drawingml/2006/main">
              <a:ext uri="{FF2B5EF4-FFF2-40B4-BE49-F238E27FC236}">
                <a16:creationId xmlns:a16="http://schemas.microsoft.com/office/drawing/2014/main" id="{A1F7F2CC-176A-47AC-948B-A2BF49D2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8483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5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78629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DDB2098B-FB16-4403-A920-5D9728EC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" name="slide-2-head-rule">
            <a:extLst xmlns:a="http://schemas.openxmlformats.org/drawingml/2006/main">
              <a:ext uri="{FF2B5EF4-FFF2-40B4-BE49-F238E27FC236}">
                <a16:creationId xmlns:a16="http://schemas.microsoft.com/office/drawing/2014/main" id="{3CDF928A-2C99-40CF-B637-890B6697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9EF95F1C-8E1E-4ACA-8C7F-A72445DB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청년 임차 의사결정의 네 가지 공백</a:t>
            </a:r>
          </a:p>
        </p:txBody>
      </p:sp>
      <p:sp>
        <p:nvSpPr>
          <p:cNvPr id="4" name="slide-2-subtitle">
            <a:extLst xmlns:a="http://schemas.openxmlformats.org/drawingml/2006/main">
              <a:ext uri="{FF2B5EF4-FFF2-40B4-BE49-F238E27FC236}">
                <a16:creationId xmlns:a16="http://schemas.microsoft.com/office/drawing/2014/main" id="{3B710244-1DBF-4E01-9AC8-DDC552DD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정보는 많지만 개인별 기준선과 비교 단위가 연결되지 않습니다</a:t>
            </a:r>
          </a:p>
        </p:txBody>
      </p:sp>
      <p:sp>
        <p:nvSpPr>
          <p:cNvPr id="5" name="slide-2-footer-rule">
            <a:extLst xmlns:a="http://schemas.openxmlformats.org/drawingml/2006/main">
              <a:ext uri="{FF2B5EF4-FFF2-40B4-BE49-F238E27FC236}">
                <a16:creationId xmlns:a16="http://schemas.microsoft.com/office/drawing/2014/main" id="{EED4EBFB-ACB6-434C-8986-A22DFE9A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2-footer-left">
            <a:extLst xmlns:a="http://schemas.openxmlformats.org/drawingml/2006/main">
              <a:ext uri="{FF2B5EF4-FFF2-40B4-BE49-F238E27FC236}">
                <a16:creationId xmlns:a16="http://schemas.microsoft.com/office/drawing/2014/main" id="{0661301D-528A-454A-810F-0E115A71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2-footer-right">
            <a:extLst xmlns:a="http://schemas.openxmlformats.org/drawingml/2006/main">
              <a:ext uri="{FF2B5EF4-FFF2-40B4-BE49-F238E27FC236}">
                <a16:creationId xmlns:a16="http://schemas.microsoft.com/office/drawing/2014/main" id="{E05E1CD7-12BB-4C6E-B40D-FEE6DAEB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02 / 19</a:t>
            </a:r>
          </a:p>
        </p:txBody>
      </p:sp>
      <p:sp>
        <p:nvSpPr>
          <p:cNvPr id="8" name="p2-v">
            <a:extLst xmlns:a="http://schemas.openxmlformats.org/drawingml/2006/main">
              <a:ext uri="{FF2B5EF4-FFF2-40B4-BE49-F238E27FC236}">
                <a16:creationId xmlns:a16="http://schemas.microsoft.com/office/drawing/2014/main" id="{3EC805D5-43B5-49A8-8741-4CA57F03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85900"/>
            <a:ext cx="0" cy="403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9" name="p2-h">
            <a:extLst xmlns:a="http://schemas.openxmlformats.org/drawingml/2006/main">
              <a:ext uri="{FF2B5EF4-FFF2-40B4-BE49-F238E27FC236}">
                <a16:creationId xmlns:a16="http://schemas.microsoft.com/office/drawing/2014/main" id="{732BD495-B88D-4903-AF9F-22AAE77A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0" name="p2-1-num">
            <a:extLst xmlns:a="http://schemas.openxmlformats.org/drawingml/2006/main">
              <a:ext uri="{FF2B5EF4-FFF2-40B4-BE49-F238E27FC236}">
                <a16:creationId xmlns:a16="http://schemas.microsoft.com/office/drawing/2014/main" id="{A259F77B-554D-47D5-A873-9BAACCDB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p2-1-title">
            <a:extLst xmlns:a="http://schemas.openxmlformats.org/drawingml/2006/main">
              <a:ext uri="{FF2B5EF4-FFF2-40B4-BE49-F238E27FC236}">
                <a16:creationId xmlns:a16="http://schemas.microsoft.com/office/drawing/2014/main" id="{369D124C-9263-4C3C-83DE-A9D3C1E5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287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월 주거비 기준선</a:t>
            </a:r>
          </a:p>
        </p:txBody>
      </p:sp>
      <p:sp>
        <p:nvSpPr>
          <p:cNvPr id="12" name="p2-1-body">
            <a:extLst xmlns:a="http://schemas.openxmlformats.org/drawingml/2006/main">
              <a:ext uri="{FF2B5EF4-FFF2-40B4-BE49-F238E27FC236}">
                <a16:creationId xmlns:a16="http://schemas.microsoft.com/office/drawing/2014/main" id="{6753B10E-7BAD-40E1-A705-CE4DE55B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4362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소득, 자산, 부채, 가구원 수를 넣어도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감당 가능한 월 상한을 제시하는 서비스가 드뭅니다.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사용자는 주변 사례를 기준으로 계약을 판단합니다.</a:t>
            </a:r>
          </a:p>
        </p:txBody>
      </p:sp>
      <p:sp>
        <p:nvSpPr>
          <p:cNvPr id="13" name="p2-2-num">
            <a:extLst xmlns:a="http://schemas.openxmlformats.org/drawingml/2006/main">
              <a:ext uri="{FF2B5EF4-FFF2-40B4-BE49-F238E27FC236}">
                <a16:creationId xmlns:a16="http://schemas.microsoft.com/office/drawing/2014/main" id="{057DFE86-8348-4E28-B89D-2F950D08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383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4" name="p2-2-title">
            <a:extLst xmlns:a="http://schemas.openxmlformats.org/drawingml/2006/main">
              <a:ext uri="{FF2B5EF4-FFF2-40B4-BE49-F238E27FC236}">
                <a16:creationId xmlns:a16="http://schemas.microsoft.com/office/drawing/2014/main" id="{1D31D49B-7CAF-47C9-84D6-69DF57E2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287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전세와 월세의 비교 단위</a:t>
            </a:r>
          </a:p>
        </p:txBody>
      </p:sp>
      <p:sp>
        <p:nvSpPr>
          <p:cNvPr id="15" name="p2-2-body">
            <a:extLst xmlns:a="http://schemas.openxmlformats.org/drawingml/2006/main">
              <a:ext uri="{FF2B5EF4-FFF2-40B4-BE49-F238E27FC236}">
                <a16:creationId xmlns:a16="http://schemas.microsoft.com/office/drawing/2014/main" id="{2F656F62-0878-4B27-9E26-FC3186B0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00250"/>
            <a:ext cx="4362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월 납입액만 비교하면 대출이자와 관리비,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보증금 기회비용, 보증료가 빠집니다.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5년 총비용 기준의 비교가 필요합니다.</a:t>
            </a:r>
          </a:p>
        </p:txBody>
      </p:sp>
      <p:sp>
        <p:nvSpPr>
          <p:cNvPr id="16" name="p2-3-num">
            <a:extLst xmlns:a="http://schemas.openxmlformats.org/drawingml/2006/main">
              <a:ext uri="{FF2B5EF4-FFF2-40B4-BE49-F238E27FC236}">
                <a16:creationId xmlns:a16="http://schemas.microsoft.com/office/drawing/2014/main" id="{C7E65E2C-5EB6-4B90-AC0C-58E588F7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p2-3-title">
            <a:extLst xmlns:a="http://schemas.openxmlformats.org/drawingml/2006/main">
              <a:ext uri="{FF2B5EF4-FFF2-40B4-BE49-F238E27FC236}">
                <a16:creationId xmlns:a16="http://schemas.microsoft.com/office/drawing/2014/main" id="{737FF47E-B1BB-4200-A30F-B4C008A8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242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정책 자격 확인</a:t>
            </a:r>
          </a:p>
        </p:txBody>
      </p:sp>
      <p:sp>
        <p:nvSpPr>
          <p:cNvPr id="18" name="p2-3-body">
            <a:extLst xmlns:a="http://schemas.openxmlformats.org/drawingml/2006/main">
              <a:ext uri="{FF2B5EF4-FFF2-40B4-BE49-F238E27FC236}">
                <a16:creationId xmlns:a16="http://schemas.microsoft.com/office/drawing/2014/main" id="{80F10E75-47B5-4FCE-BA23-29EFB608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95750"/>
            <a:ext cx="4362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제도마다 연령, 소득, 자산, 지역 요건이 다릅니다.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사용자가 여러 공고문을 직접 대조해야 하며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제외 사유와 추가 확인 항목도 한눈에 보기 어렵습니다.</a:t>
            </a:r>
          </a:p>
        </p:txBody>
      </p:sp>
      <p:sp>
        <p:nvSpPr>
          <p:cNvPr id="19" name="p2-4-num">
            <a:extLst xmlns:a="http://schemas.openxmlformats.org/drawingml/2006/main">
              <a:ext uri="{FF2B5EF4-FFF2-40B4-BE49-F238E27FC236}">
                <a16:creationId xmlns:a16="http://schemas.microsoft.com/office/drawing/2014/main" id="{6E182BBE-6B2E-417C-AD72-FCF07D6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p2-4-title">
            <a:extLst xmlns:a="http://schemas.openxmlformats.org/drawingml/2006/main">
              <a:ext uri="{FF2B5EF4-FFF2-40B4-BE49-F238E27FC236}">
                <a16:creationId xmlns:a16="http://schemas.microsoft.com/office/drawing/2014/main" id="{4532F911-1748-4B54-9955-274092F4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242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계약 전 보증금 점검</a:t>
            </a:r>
          </a:p>
        </p:txBody>
      </p:sp>
      <p:sp>
        <p:nvSpPr>
          <p:cNvPr id="21" name="p2-4-body">
            <a:extLst xmlns:a="http://schemas.openxmlformats.org/drawingml/2006/main">
              <a:ext uri="{FF2B5EF4-FFF2-40B4-BE49-F238E27FC236}">
                <a16:creationId xmlns:a16="http://schemas.microsoft.com/office/drawing/2014/main" id="{ABCBB3E7-F332-421B-A405-491B313A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4362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전세가율과 보증 가입 가능성 같은 신호를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계약 전에 한 점수로 확인하기 어렵습니다.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사고가 난 뒤에야 위험을 이해하는 경우가 많습니다.</a:t>
            </a:r>
          </a:p>
        </p:txBody>
      </p:sp>
      <p:sp>
        <p:nvSpPr>
          <p:cNvPr id="22" name="p2-note-rule">
            <a:extLst xmlns:a="http://schemas.openxmlformats.org/drawingml/2006/main">
              <a:ext uri="{FF2B5EF4-FFF2-40B4-BE49-F238E27FC236}">
                <a16:creationId xmlns:a16="http://schemas.microsoft.com/office/drawing/2014/main" id="{485868D5-0476-463C-9801-90C6095C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381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7913"/>
            </a:solidFill>
            <a:prstDash val="solid"/>
          </a:ln>
        </p:spPr>
      </p:sp>
      <p:sp>
        <p:nvSpPr>
          <p:cNvPr id="23" name="p2-note">
            <a:extLst xmlns:a="http://schemas.openxmlformats.org/drawingml/2006/main">
              <a:ext uri="{FF2B5EF4-FFF2-40B4-BE49-F238E27FC236}">
                <a16:creationId xmlns:a16="http://schemas.microsoft.com/office/drawing/2014/main" id="{E11DD44E-30FF-4D20-ADEB-2CB6FB3A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62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참고: 이 장은 검증 가능한 통계 수치를 새로 만들지 않았습니다. 공개 제도 요건과 일반적인 계약 절차를 기준으로 문제를 정리했습니다.</a:t>
            </a:r>
          </a:p>
        </p:txBody>
      </p:sp>
    </p:spTree>
    <p:extLst>
      <p:ext uri="{BB962C8B-B14F-4D97-AF65-F5344CB8AC3E}">
        <p14:creationId xmlns:p14="http://schemas.microsoft.com/office/powerpoint/2010/main" val="4930025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B15FF32F-B29F-4F62-8104-1EC6A846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" name="slide-3-head-rule">
            <a:extLst xmlns:a="http://schemas.openxmlformats.org/drawingml/2006/main">
              <a:ext uri="{FF2B5EF4-FFF2-40B4-BE49-F238E27FC236}">
                <a16:creationId xmlns:a16="http://schemas.microsoft.com/office/drawing/2014/main" id="{6BF696D4-8CF4-4A94-BDF7-322CA6A4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4305F12A-03CE-4C8E-94EC-37E430C0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기존 서비스가 제공하는 범위</a:t>
            </a:r>
          </a:p>
        </p:txBody>
      </p:sp>
      <p:sp>
        <p:nvSpPr>
          <p:cNvPr id="4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5E7B9A52-A010-4788-A239-16501F5D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각 서비스는 일부 정보를 잘 제공하지만 개인 상황에 대한 종합 판정은 남아 있습니다</a:t>
            </a:r>
          </a:p>
        </p:txBody>
      </p:sp>
      <p:sp>
        <p:nvSpPr>
          <p:cNvPr id="5" name="slide-3-footer-rule">
            <a:extLst xmlns:a="http://schemas.openxmlformats.org/drawingml/2006/main">
              <a:ext uri="{FF2B5EF4-FFF2-40B4-BE49-F238E27FC236}">
                <a16:creationId xmlns:a16="http://schemas.microsoft.com/office/drawing/2014/main" id="{1C49D4E2-1F62-49F0-BF95-86A5EA6C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3-footer-left">
            <a:extLst xmlns:a="http://schemas.openxmlformats.org/drawingml/2006/main">
              <a:ext uri="{FF2B5EF4-FFF2-40B4-BE49-F238E27FC236}">
                <a16:creationId xmlns:a16="http://schemas.microsoft.com/office/drawing/2014/main" id="{AC945BE4-C22A-4938-9B4B-5644FF41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3-footer-right">
            <a:extLst xmlns:a="http://schemas.openxmlformats.org/drawingml/2006/main">
              <a:ext uri="{FF2B5EF4-FFF2-40B4-BE49-F238E27FC236}">
                <a16:creationId xmlns:a16="http://schemas.microsoft.com/office/drawing/2014/main" id="{418823AE-D0C8-4BE9-B446-4533E3FE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03 / 19</a:t>
            </a:r>
          </a:p>
        </p:txBody>
      </p:sp>
      <p:sp>
        <p:nvSpPr>
          <p:cNvPr id="8" name="p3-head-0">
            <a:extLst xmlns:a="http://schemas.openxmlformats.org/drawingml/2006/main">
              <a:ext uri="{FF2B5EF4-FFF2-40B4-BE49-F238E27FC236}">
                <a16:creationId xmlns:a16="http://schemas.microsoft.com/office/drawing/2014/main" id="{A552775A-1523-4879-AF8A-210A35D3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상담형 챗봇</a:t>
            </a:r>
          </a:p>
        </p:txBody>
      </p:sp>
      <p:sp>
        <p:nvSpPr>
          <p:cNvPr id="9" name="p3-good-label-0">
            <a:extLst xmlns:a="http://schemas.openxmlformats.org/drawingml/2006/main">
              <a:ext uri="{FF2B5EF4-FFF2-40B4-BE49-F238E27FC236}">
                <a16:creationId xmlns:a16="http://schemas.microsoft.com/office/drawing/2014/main" id="{C3281142-1BB5-4A14-9B89-9296830E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10" name="p3-good-0">
            <a:extLst xmlns:a="http://schemas.openxmlformats.org/drawingml/2006/main">
              <a:ext uri="{FF2B5EF4-FFF2-40B4-BE49-F238E27FC236}">
                <a16:creationId xmlns:a16="http://schemas.microsoft.com/office/drawing/2014/main" id="{BE4C9819-72A7-4D60-955D-3FD2F51B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자연어로 질문을 받을 수 있음</a:t>
            </a:r>
          </a:p>
        </p:txBody>
      </p:sp>
      <p:sp>
        <p:nvSpPr>
          <p:cNvPr id="11" name="p3-gap-label-0">
            <a:extLst xmlns:a="http://schemas.openxmlformats.org/drawingml/2006/main">
              <a:ext uri="{FF2B5EF4-FFF2-40B4-BE49-F238E27FC236}">
                <a16:creationId xmlns:a16="http://schemas.microsoft.com/office/drawing/2014/main" id="{6E1C63F1-D967-4EA2-A1D5-F25BBFBC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남은 판단</a:t>
            </a:r>
          </a:p>
        </p:txBody>
      </p:sp>
      <p:sp>
        <p:nvSpPr>
          <p:cNvPr id="12" name="p3-gap-0">
            <a:extLst xmlns:a="http://schemas.openxmlformats.org/drawingml/2006/main">
              <a:ext uri="{FF2B5EF4-FFF2-40B4-BE49-F238E27FC236}">
                <a16:creationId xmlns:a16="http://schemas.microsoft.com/office/drawing/2014/main" id="{015BC684-6541-4DBF-B2D8-21AB13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수치 생성의 재현성</a:t>
            </a:r>
          </a:p>
        </p:txBody>
      </p:sp>
      <p:sp>
        <p:nvSpPr>
          <p:cNvPr id="13" name="p3-v-1">
            <a:extLst xmlns:a="http://schemas.openxmlformats.org/drawingml/2006/main">
              <a:ext uri="{FF2B5EF4-FFF2-40B4-BE49-F238E27FC236}">
                <a16:creationId xmlns:a16="http://schemas.microsoft.com/office/drawing/2014/main" id="{5EECF7F4-3164-423B-9232-66627A3F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00200"/>
            <a:ext cx="0" cy="2781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4" name="p3-head-1">
            <a:extLst xmlns:a="http://schemas.openxmlformats.org/drawingml/2006/main">
              <a:ext uri="{FF2B5EF4-FFF2-40B4-BE49-F238E27FC236}">
                <a16:creationId xmlns:a16="http://schemas.microsoft.com/office/drawing/2014/main" id="{7A388656-7FE8-4A74-AC4D-67DB9048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192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대출 계산기</a:t>
            </a:r>
          </a:p>
        </p:txBody>
      </p:sp>
      <p:sp>
        <p:nvSpPr>
          <p:cNvPr id="15" name="p3-good-label-1">
            <a:extLst xmlns:a="http://schemas.openxmlformats.org/drawingml/2006/main">
              <a:ext uri="{FF2B5EF4-FFF2-40B4-BE49-F238E27FC236}">
                <a16:creationId xmlns:a16="http://schemas.microsoft.com/office/drawing/2014/main" id="{FA25455E-4263-4ADF-A4B9-8D7D5EA0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52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16" name="p3-good-1">
            <a:extLst xmlns:a="http://schemas.openxmlformats.org/drawingml/2006/main">
              <a:ext uri="{FF2B5EF4-FFF2-40B4-BE49-F238E27FC236}">
                <a16:creationId xmlns:a16="http://schemas.microsoft.com/office/drawing/2014/main" id="{FD12A0CD-5022-48DE-AE93-9699D66F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812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원리금 계산이 정확함</a:t>
            </a:r>
          </a:p>
        </p:txBody>
      </p:sp>
      <p:sp>
        <p:nvSpPr>
          <p:cNvPr id="17" name="p3-gap-label-1">
            <a:extLst xmlns:a="http://schemas.openxmlformats.org/drawingml/2006/main">
              <a:ext uri="{FF2B5EF4-FFF2-40B4-BE49-F238E27FC236}">
                <a16:creationId xmlns:a16="http://schemas.microsoft.com/office/drawing/2014/main" id="{40B37952-A691-447D-9DAC-FED0D9E4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남은 판단</a:t>
            </a:r>
          </a:p>
        </p:txBody>
      </p:sp>
      <p:sp>
        <p:nvSpPr>
          <p:cNvPr id="18" name="p3-gap-1">
            <a:extLst xmlns:a="http://schemas.openxmlformats.org/drawingml/2006/main">
              <a:ext uri="{FF2B5EF4-FFF2-40B4-BE49-F238E27FC236}">
                <a16:creationId xmlns:a16="http://schemas.microsoft.com/office/drawing/2014/main" id="{72A10FCD-796E-4DAF-B85A-C38A9BB1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48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감당 가능한 금액 판단</a:t>
            </a:r>
          </a:p>
        </p:txBody>
      </p:sp>
      <p:sp>
        <p:nvSpPr>
          <p:cNvPr id="19" name="p3-v-2">
            <a:extLst xmlns:a="http://schemas.openxmlformats.org/drawingml/2006/main">
              <a:ext uri="{FF2B5EF4-FFF2-40B4-BE49-F238E27FC236}">
                <a16:creationId xmlns:a16="http://schemas.microsoft.com/office/drawing/2014/main" id="{38B49BD8-1BE9-4380-9C91-6C5A330E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00200"/>
            <a:ext cx="0" cy="2781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0" name="p3-head-2">
            <a:extLst xmlns:a="http://schemas.openxmlformats.org/drawingml/2006/main">
              <a:ext uri="{FF2B5EF4-FFF2-40B4-BE49-F238E27FC236}">
                <a16:creationId xmlns:a16="http://schemas.microsoft.com/office/drawing/2014/main" id="{701C0614-F88D-40B6-BF91-FFFCBC0B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정책 포털</a:t>
            </a:r>
          </a:p>
        </p:txBody>
      </p:sp>
      <p:sp>
        <p:nvSpPr>
          <p:cNvPr id="21" name="p3-good-label-2">
            <a:extLst xmlns:a="http://schemas.openxmlformats.org/drawingml/2006/main">
              <a:ext uri="{FF2B5EF4-FFF2-40B4-BE49-F238E27FC236}">
                <a16:creationId xmlns:a16="http://schemas.microsoft.com/office/drawing/2014/main" id="{E5A5C4A5-D027-4F63-95E8-46F4F5E3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52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22" name="p3-good-2">
            <a:extLst xmlns:a="http://schemas.openxmlformats.org/drawingml/2006/main">
              <a:ext uri="{FF2B5EF4-FFF2-40B4-BE49-F238E27FC236}">
                <a16:creationId xmlns:a16="http://schemas.microsoft.com/office/drawing/2014/main" id="{140C95D6-43B5-41C4-BC17-9BE2F5F5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공식 제도 목록과 원문 제공</a:t>
            </a:r>
          </a:p>
        </p:txBody>
      </p:sp>
      <p:sp>
        <p:nvSpPr>
          <p:cNvPr id="23" name="p3-gap-label-2">
            <a:extLst xmlns:a="http://schemas.openxmlformats.org/drawingml/2006/main">
              <a:ext uri="{FF2B5EF4-FFF2-40B4-BE49-F238E27FC236}">
                <a16:creationId xmlns:a16="http://schemas.microsoft.com/office/drawing/2014/main" id="{321605B9-2695-46E7-91EA-E7A81499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남은 판단</a:t>
            </a:r>
          </a:p>
        </p:txBody>
      </p:sp>
      <p:sp>
        <p:nvSpPr>
          <p:cNvPr id="24" name="p3-gap-2">
            <a:extLst xmlns:a="http://schemas.openxmlformats.org/drawingml/2006/main">
              <a:ext uri="{FF2B5EF4-FFF2-40B4-BE49-F238E27FC236}">
                <a16:creationId xmlns:a16="http://schemas.microsoft.com/office/drawing/2014/main" id="{AFED4296-715C-4663-BB4E-1C6EF515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48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개인별 적격 여부와 제외 사유</a:t>
            </a:r>
          </a:p>
        </p:txBody>
      </p:sp>
      <p:sp>
        <p:nvSpPr>
          <p:cNvPr id="25" name="p3-v-3">
            <a:extLst xmlns:a="http://schemas.openxmlformats.org/drawingml/2006/main">
              <a:ext uri="{FF2B5EF4-FFF2-40B4-BE49-F238E27FC236}">
                <a16:creationId xmlns:a16="http://schemas.microsoft.com/office/drawing/2014/main" id="{25B51627-3870-4166-A58B-330A5693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00200"/>
            <a:ext cx="0" cy="2781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6" name="p3-head-3">
            <a:extLst xmlns:a="http://schemas.openxmlformats.org/drawingml/2006/main">
              <a:ext uri="{FF2B5EF4-FFF2-40B4-BE49-F238E27FC236}">
                <a16:creationId xmlns:a16="http://schemas.microsoft.com/office/drawing/2014/main" id="{D2DFD725-9E84-4C62-8B64-C5FF7CFA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6192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부동산 시세 앱</a:t>
            </a:r>
          </a:p>
        </p:txBody>
      </p:sp>
      <p:sp>
        <p:nvSpPr>
          <p:cNvPr id="27" name="p3-good-label-3">
            <a:extLst xmlns:a="http://schemas.openxmlformats.org/drawingml/2006/main">
              <a:ext uri="{FF2B5EF4-FFF2-40B4-BE49-F238E27FC236}">
                <a16:creationId xmlns:a16="http://schemas.microsoft.com/office/drawing/2014/main" id="{F46226D4-0CB8-4EBB-A4A4-7DDE27CB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52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28" name="p3-good-3">
            <a:extLst xmlns:a="http://schemas.openxmlformats.org/drawingml/2006/main">
              <a:ext uri="{FF2B5EF4-FFF2-40B4-BE49-F238E27FC236}">
                <a16:creationId xmlns:a16="http://schemas.microsoft.com/office/drawing/2014/main" id="{CB5E7AD2-52E6-400B-AFC5-068C496C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매물과 지역 시세가 풍부함</a:t>
            </a:r>
          </a:p>
        </p:txBody>
      </p:sp>
      <p:sp>
        <p:nvSpPr>
          <p:cNvPr id="29" name="p3-gap-label-3">
            <a:extLst xmlns:a="http://schemas.openxmlformats.org/drawingml/2006/main">
              <a:ext uri="{FF2B5EF4-FFF2-40B4-BE49-F238E27FC236}">
                <a16:creationId xmlns:a16="http://schemas.microsoft.com/office/drawing/2014/main" id="{C178EA01-B2BF-4A1B-BFDE-02394750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남은 판단</a:t>
            </a:r>
          </a:p>
        </p:txBody>
      </p:sp>
      <p:sp>
        <p:nvSpPr>
          <p:cNvPr id="30" name="p3-gap-3">
            <a:extLst xmlns:a="http://schemas.openxmlformats.org/drawingml/2006/main">
              <a:ext uri="{FF2B5EF4-FFF2-40B4-BE49-F238E27FC236}">
                <a16:creationId xmlns:a16="http://schemas.microsoft.com/office/drawing/2014/main" id="{97FAC6B4-C5DE-448C-91F3-38485086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48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재무 관점의 총비용 비교</a:t>
            </a:r>
          </a:p>
        </p:txBody>
      </p:sp>
      <p:sp>
        <p:nvSpPr>
          <p:cNvPr id="31" name="p3-answer-bg">
            <a:extLst xmlns:a="http://schemas.openxmlformats.org/drawingml/2006/main">
              <a:ext uri="{FF2B5EF4-FFF2-40B4-BE49-F238E27FC236}">
                <a16:creationId xmlns:a16="http://schemas.microsoft.com/office/drawing/2014/main" id="{7B0B04D9-D76C-4246-B64A-A9067758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0820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3-answer-label">
            <a:extLst xmlns:a="http://schemas.openxmlformats.org/drawingml/2006/main">
              <a:ext uri="{FF2B5EF4-FFF2-40B4-BE49-F238E27FC236}">
                <a16:creationId xmlns:a16="http://schemas.microsoft.com/office/drawing/2014/main" id="{7208CDA3-F7D1-437F-AE32-7A8BCBA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Home_Compass의 범위</a:t>
            </a:r>
          </a:p>
        </p:txBody>
      </p:sp>
      <p:sp>
        <p:nvSpPr>
          <p:cNvPr id="33" name="p3-answer-main">
            <a:extLst xmlns:a="http://schemas.openxmlformats.org/drawingml/2006/main">
              <a:ext uri="{FF2B5EF4-FFF2-40B4-BE49-F238E27FC236}">
                <a16:creationId xmlns:a16="http://schemas.microsoft.com/office/drawing/2014/main" id="{2DF02FB4-5354-4EF2-AFC1-AC88DA3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7207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월 주거비 상한을 먼저 확정한 뒤 전월세 총비용, 정책 자격, 보증금 위험을 같은 입력으로 계산합니다.</a:t>
            </a:r>
          </a:p>
        </p:txBody>
      </p:sp>
      <p:sp>
        <p:nvSpPr>
          <p:cNvPr id="34" name="p3-answer-sub">
            <a:extLst xmlns:a="http://schemas.openxmlformats.org/drawingml/2006/main">
              <a:ext uri="{FF2B5EF4-FFF2-40B4-BE49-F238E27FC236}">
                <a16:creationId xmlns:a16="http://schemas.microsoft.com/office/drawing/2014/main" id="{9434FEC8-6305-4E17-84AE-CCA729D5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0070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금액과 판정은 결정론적 엔진이 만들고, LLM은 이미 계산된 결과를 설명합니다.</a:t>
            </a:r>
          </a:p>
        </p:txBody>
      </p:sp>
    </p:spTree>
    <p:extLst>
      <p:ext uri="{BB962C8B-B14F-4D97-AF65-F5344CB8AC3E}">
        <p14:creationId xmlns:p14="http://schemas.microsoft.com/office/powerpoint/2010/main" val="321637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29D0B163-7D9D-4B29-8DF6-228ECE0D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" name="slide-4-head-rule">
            <a:extLst xmlns:a="http://schemas.openxmlformats.org/drawingml/2006/main">
              <a:ext uri="{FF2B5EF4-FFF2-40B4-BE49-F238E27FC236}">
                <a16:creationId xmlns:a16="http://schemas.microsoft.com/office/drawing/2014/main" id="{C3AB36D2-6D46-4580-B678-885D3EBB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685883F5-DBA0-46C4-AF25-63664AC5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Home_Compass의 판정 범위</a:t>
            </a:r>
          </a:p>
        </p:txBody>
      </p:sp>
      <p:sp>
        <p:nvSpPr>
          <p:cNvPr id="4" name="slide-4-subtitle">
            <a:extLst xmlns:a="http://schemas.openxmlformats.org/drawingml/2006/main">
              <a:ext uri="{FF2B5EF4-FFF2-40B4-BE49-F238E27FC236}">
                <a16:creationId xmlns:a16="http://schemas.microsoft.com/office/drawing/2014/main" id="{BFD448D7-A4E2-44F1-88D9-13A7130D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한 번의 입력으로 재무 기준선과 실행 가능한 선택지를 함께 확인합니다</a:t>
            </a:r>
          </a:p>
        </p:txBody>
      </p:sp>
      <p:sp>
        <p:nvSpPr>
          <p:cNvPr id="5" name="slide-4-footer-rule">
            <a:extLst xmlns:a="http://schemas.openxmlformats.org/drawingml/2006/main">
              <a:ext uri="{FF2B5EF4-FFF2-40B4-BE49-F238E27FC236}">
                <a16:creationId xmlns:a16="http://schemas.microsoft.com/office/drawing/2014/main" id="{93444C09-64F4-42A4-B1B8-0CCB0AE4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4-footer-left">
            <a:extLst xmlns:a="http://schemas.openxmlformats.org/drawingml/2006/main">
              <a:ext uri="{FF2B5EF4-FFF2-40B4-BE49-F238E27FC236}">
                <a16:creationId xmlns:a16="http://schemas.microsoft.com/office/drawing/2014/main" id="{53CCFB6A-6FC5-4679-9BA2-4EEC94C7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4-footer-right">
            <a:extLst xmlns:a="http://schemas.openxmlformats.org/drawingml/2006/main">
              <a:ext uri="{FF2B5EF4-FFF2-40B4-BE49-F238E27FC236}">
                <a16:creationId xmlns:a16="http://schemas.microsoft.com/office/drawing/2014/main" id="{4DBA9AFD-DC16-45FA-9AF1-8099FBEC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04 / 19</a:t>
            </a:r>
          </a:p>
        </p:txBody>
      </p:sp>
      <p:sp>
        <p:nvSpPr>
          <p:cNvPr id="8" name="p4-label">
            <a:extLst xmlns:a="http://schemas.openxmlformats.org/drawingml/2006/main">
              <a:ext uri="{FF2B5EF4-FFF2-40B4-BE49-F238E27FC236}">
                <a16:creationId xmlns:a16="http://schemas.microsoft.com/office/drawing/2014/main" id="{53E913B5-2548-4760-ABC8-6D5DAAF5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서비스 정의</a:t>
            </a:r>
          </a:p>
        </p:txBody>
      </p:sp>
      <p:sp>
        <p:nvSpPr>
          <p:cNvPr id="9" name="p4-definition">
            <a:extLst xmlns:a="http://schemas.openxmlformats.org/drawingml/2006/main">
              <a:ext uri="{FF2B5EF4-FFF2-40B4-BE49-F238E27FC236}">
                <a16:creationId xmlns:a16="http://schemas.microsoft.com/office/drawing/2014/main" id="{E33B37C3-E130-4C88-B20B-5B7EB3D1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3905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청년 임차 가구가 자신의 소득과 자산으로 감당 가능한 집의 범위를 먼저 계산하고, 전세와 월세 비용 및 정책 자격을 같은 근거에서 비교하는 서비스</a:t>
            </a:r>
          </a:p>
        </p:txBody>
      </p:sp>
      <p:sp>
        <p:nvSpPr>
          <p:cNvPr id="10" name="p4-left-rule">
            <a:extLst xmlns:a="http://schemas.openxmlformats.org/drawingml/2006/main">
              <a:ext uri="{FF2B5EF4-FFF2-40B4-BE49-F238E27FC236}">
                <a16:creationId xmlns:a16="http://schemas.microsoft.com/office/drawing/2014/main" id="{D26E668C-5728-4B62-9229-424E1DFC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1" name="p4-left-note">
            <a:extLst xmlns:a="http://schemas.openxmlformats.org/drawingml/2006/main">
              <a:ext uri="{FF2B5EF4-FFF2-40B4-BE49-F238E27FC236}">
                <a16:creationId xmlns:a16="http://schemas.microsoft.com/office/drawing/2014/main" id="{83391B0C-8010-432F-86FD-1913C79F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입력에는 나이, 가구원 수, 희망 지역, 소득, 자산, 부채, 주거 조건이 포함됩니다. 시민 기능은 로그인 없이 사용할 수 있습니다.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e87a0bd1405c"/>
          <a:stretch xmlns:a="http://schemas.openxmlformats.org/drawingml/2006/main"/>
        </p:blipFill>
        <p:spPr>
          <a:xfrm xmlns:a="http://schemas.openxmlformats.org/drawingml/2006/main">
            <a:off x="5610225" y="1495425"/>
            <a:ext cx="5334000" cy="3333750"/>
          </a:xfrm>
          <a:prstGeom xmlns:a="http://schemas.openxmlformats.org/drawingml/2006/main" prst="rect">
            <a:avLst/>
          </a:prstGeom>
        </p:spPr>
      </p:pic>
      <p:sp>
        <p:nvSpPr>
          <p:cNvPr id="13" name="p4-image-bottom">
            <a:extLst xmlns:a="http://schemas.openxmlformats.org/drawingml/2006/main">
              <a:ext uri="{FF2B5EF4-FFF2-40B4-BE49-F238E27FC236}">
                <a16:creationId xmlns:a16="http://schemas.microsoft.com/office/drawing/2014/main" id="{A97AA9B4-9B80-4956-9DDE-E23A56F2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14900"/>
            <a:ext cx="6457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4" name="p4-image-caption">
            <a:extLst xmlns:a="http://schemas.openxmlformats.org/drawingml/2006/main">
              <a:ext uri="{FF2B5EF4-FFF2-40B4-BE49-F238E27FC236}">
                <a16:creationId xmlns:a16="http://schemas.microsoft.com/office/drawing/2014/main" id="{3A11F413-4FD6-4262-9469-B0FFC828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00625"/>
            <a:ext cx="645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실제 실행 화면: 프로필 입력과 제공 기능 안내</a:t>
            </a:r>
          </a:p>
        </p:txBody>
      </p:sp>
      <p:sp>
        <p:nvSpPr>
          <p:cNvPr id="15" name="p4-step-num-0">
            <a:extLst xmlns:a="http://schemas.openxmlformats.org/drawingml/2006/main">
              <a:ext uri="{FF2B5EF4-FFF2-40B4-BE49-F238E27FC236}">
                <a16:creationId xmlns:a16="http://schemas.microsoft.com/office/drawing/2014/main" id="{398472E0-746C-4A15-A2B5-0C9EE87E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p4-step-head-0">
            <a:extLst xmlns:a="http://schemas.openxmlformats.org/drawingml/2006/main">
              <a:ext uri="{FF2B5EF4-FFF2-40B4-BE49-F238E27FC236}">
                <a16:creationId xmlns:a16="http://schemas.microsoft.com/office/drawing/2014/main" id="{01C1FE09-B982-4620-B8C1-07FE5200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프로필 입력</a:t>
            </a:r>
          </a:p>
        </p:txBody>
      </p:sp>
      <p:sp>
        <p:nvSpPr>
          <p:cNvPr id="17" name="p4-step-copy-0">
            <a:extLst xmlns:a="http://schemas.openxmlformats.org/drawingml/2006/main">
              <a:ext uri="{FF2B5EF4-FFF2-40B4-BE49-F238E27FC236}">
                <a16:creationId xmlns:a16="http://schemas.microsoft.com/office/drawing/2014/main" id="{39F946C3-D0C9-40E0-980E-607064B7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개인 재무 조건과 희망 지역</a:t>
            </a:r>
          </a:p>
        </p:txBody>
      </p:sp>
      <p:sp>
        <p:nvSpPr>
          <p:cNvPr id="18" name="p4-step-rule-0">
            <a:extLst xmlns:a="http://schemas.openxmlformats.org/drawingml/2006/main">
              <a:ext uri="{FF2B5EF4-FFF2-40B4-BE49-F238E27FC236}">
                <a16:creationId xmlns:a16="http://schemas.microsoft.com/office/drawing/2014/main" id="{3D7F45C4-3AD1-498A-B6C9-838E5021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34025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9" name="p4-step-num-1">
            <a:extLst xmlns:a="http://schemas.openxmlformats.org/drawingml/2006/main">
              <a:ext uri="{FF2B5EF4-FFF2-40B4-BE49-F238E27FC236}">
                <a16:creationId xmlns:a16="http://schemas.microsoft.com/office/drawing/2014/main" id="{DED9CEB4-EA5B-45AB-8A95-F006C0C1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5435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p4-step-head-1">
            <a:extLst xmlns:a="http://schemas.openxmlformats.org/drawingml/2006/main">
              <a:ext uri="{FF2B5EF4-FFF2-40B4-BE49-F238E27FC236}">
                <a16:creationId xmlns:a16="http://schemas.microsoft.com/office/drawing/2014/main" id="{89FBE17B-B7D7-42E9-B01B-277D2740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52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엔진 계산</a:t>
            </a:r>
          </a:p>
        </p:txBody>
      </p:sp>
      <p:sp>
        <p:nvSpPr>
          <p:cNvPr id="21" name="p4-step-copy-1">
            <a:extLst xmlns:a="http://schemas.openxmlformats.org/drawingml/2006/main">
              <a:ext uri="{FF2B5EF4-FFF2-40B4-BE49-F238E27FC236}">
                <a16:creationId xmlns:a16="http://schemas.microsoft.com/office/drawing/2014/main" id="{D36434CE-F338-4810-A07A-C19D33F9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8102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상한, 비용, 자격, 위험</a:t>
            </a:r>
          </a:p>
        </p:txBody>
      </p:sp>
      <p:sp>
        <p:nvSpPr>
          <p:cNvPr id="22" name="p4-step-rule-1">
            <a:extLst xmlns:a="http://schemas.openxmlformats.org/drawingml/2006/main">
              <a:ext uri="{FF2B5EF4-FFF2-40B4-BE49-F238E27FC236}">
                <a16:creationId xmlns:a16="http://schemas.microsoft.com/office/drawing/2014/main" id="{BA0BDFDB-DF11-46FF-B030-709D2CBC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534025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3" name="p4-step-num-2">
            <a:extLst xmlns:a="http://schemas.openxmlformats.org/drawingml/2006/main">
              <a:ext uri="{FF2B5EF4-FFF2-40B4-BE49-F238E27FC236}">
                <a16:creationId xmlns:a16="http://schemas.microsoft.com/office/drawing/2014/main" id="{B717DE26-DB38-4E28-B051-15348E0B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p4-step-head-2">
            <a:extLst xmlns:a="http://schemas.openxmlformats.org/drawingml/2006/main">
              <a:ext uri="{FF2B5EF4-FFF2-40B4-BE49-F238E27FC236}">
                <a16:creationId xmlns:a16="http://schemas.microsoft.com/office/drawing/2014/main" id="{001E698E-AC49-4392-A6C4-1F08EC9D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2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결과 확인</a:t>
            </a:r>
          </a:p>
        </p:txBody>
      </p:sp>
      <p:sp>
        <p:nvSpPr>
          <p:cNvPr id="25" name="p4-step-copy-2">
            <a:extLst xmlns:a="http://schemas.openxmlformats.org/drawingml/2006/main">
              <a:ext uri="{FF2B5EF4-FFF2-40B4-BE49-F238E27FC236}">
                <a16:creationId xmlns:a16="http://schemas.microsoft.com/office/drawing/2014/main" id="{0F668194-E8E2-4B4D-B3F2-2DF059A6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8102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판정 사유와 출처</a:t>
            </a:r>
          </a:p>
        </p:txBody>
      </p:sp>
      <p:sp>
        <p:nvSpPr>
          <p:cNvPr id="26" name="p4-step-rule-2">
            <a:extLst xmlns:a="http://schemas.openxmlformats.org/drawingml/2006/main">
              <a:ext uri="{FF2B5EF4-FFF2-40B4-BE49-F238E27FC236}">
                <a16:creationId xmlns:a16="http://schemas.microsoft.com/office/drawing/2014/main" id="{C55B65E5-920B-4671-8F45-09DB8592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534025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7" name="p4-step-num-3">
            <a:extLst xmlns:a="http://schemas.openxmlformats.org/drawingml/2006/main">
              <a:ext uri="{FF2B5EF4-FFF2-40B4-BE49-F238E27FC236}">
                <a16:creationId xmlns:a16="http://schemas.microsoft.com/office/drawing/2014/main" id="{D4F28D03-0692-4034-B1EC-1C0976FD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5435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8" name="p4-step-head-3">
            <a:extLst xmlns:a="http://schemas.openxmlformats.org/drawingml/2006/main">
              <a:ext uri="{FF2B5EF4-FFF2-40B4-BE49-F238E27FC236}">
                <a16:creationId xmlns:a16="http://schemas.microsoft.com/office/drawing/2014/main" id="{E9CD5B73-8DE5-4B06-87BE-08901BA3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52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후속 질문</a:t>
            </a:r>
          </a:p>
        </p:txBody>
      </p:sp>
      <p:sp>
        <p:nvSpPr>
          <p:cNvPr id="29" name="p4-step-copy-3">
            <a:extLst xmlns:a="http://schemas.openxmlformats.org/drawingml/2006/main">
              <a:ext uri="{FF2B5EF4-FFF2-40B4-BE49-F238E27FC236}">
                <a16:creationId xmlns:a16="http://schemas.microsoft.com/office/drawing/2014/main" id="{BC2D25EB-5771-41C3-B79B-0DEA74BD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8102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엔진 결과를 근거로 설명</a:t>
            </a:r>
          </a:p>
        </p:txBody>
      </p:sp>
    </p:spTree>
    <p:extLst>
      <p:ext uri="{BB962C8B-B14F-4D97-AF65-F5344CB8AC3E}">
        <p14:creationId xmlns:p14="http://schemas.microsoft.com/office/powerpoint/2010/main" val="595755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41809CFA-B46B-4DF2-81EB-5E6FC4F3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" name="slide-5-head-rule">
            <a:extLst xmlns:a="http://schemas.openxmlformats.org/drawingml/2006/main">
              <a:ext uri="{FF2B5EF4-FFF2-40B4-BE49-F238E27FC236}">
                <a16:creationId xmlns:a16="http://schemas.microsoft.com/office/drawing/2014/main" id="{0F636BD1-AB74-4256-8ED9-45E5E897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9AAB7D33-5E85-4565-A48B-15ACDD63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판정 구조의 네 가지 설계 결정</a:t>
            </a:r>
          </a:p>
        </p:txBody>
      </p:sp>
      <p:sp>
        <p:nvSpPr>
          <p:cNvPr id="4" name="slide-5-subtitle">
            <a:extLst xmlns:a="http://schemas.openxmlformats.org/drawingml/2006/main">
              <a:ext uri="{FF2B5EF4-FFF2-40B4-BE49-F238E27FC236}">
                <a16:creationId xmlns:a16="http://schemas.microsoft.com/office/drawing/2014/main" id="{FBE6DE54-2C78-4E04-9A35-A0A633FD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계산 권한과 검증 책임을 분명히 나눈 네 가지 기준입니다</a:t>
            </a:r>
          </a:p>
        </p:txBody>
      </p:sp>
      <p:sp>
        <p:nvSpPr>
          <p:cNvPr id="5" name="slide-5-footer-rule">
            <a:extLst xmlns:a="http://schemas.openxmlformats.org/drawingml/2006/main">
              <a:ext uri="{FF2B5EF4-FFF2-40B4-BE49-F238E27FC236}">
                <a16:creationId xmlns:a16="http://schemas.microsoft.com/office/drawing/2014/main" id="{6CB8D3B4-F1E8-4611-9318-EB151946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5-footer-left">
            <a:extLst xmlns:a="http://schemas.openxmlformats.org/drawingml/2006/main">
              <a:ext uri="{FF2B5EF4-FFF2-40B4-BE49-F238E27FC236}">
                <a16:creationId xmlns:a16="http://schemas.microsoft.com/office/drawing/2014/main" id="{6BD9F24C-0CC3-4DC7-A146-61F9812C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5-footer-right">
            <a:extLst xmlns:a="http://schemas.openxmlformats.org/drawingml/2006/main">
              <a:ext uri="{FF2B5EF4-FFF2-40B4-BE49-F238E27FC236}">
                <a16:creationId xmlns:a16="http://schemas.microsoft.com/office/drawing/2014/main" id="{551E2A6A-90A0-4A76-AEA7-5FB78897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05 / 19</a:t>
            </a:r>
          </a:p>
        </p:txBody>
      </p:sp>
      <p:sp>
        <p:nvSpPr>
          <p:cNvPr id="8" name="p5-num-0">
            <a:extLst xmlns:a="http://schemas.openxmlformats.org/drawingml/2006/main">
              <a:ext uri="{FF2B5EF4-FFF2-40B4-BE49-F238E27FC236}">
                <a16:creationId xmlns:a16="http://schemas.microsoft.com/office/drawing/2014/main" id="{782295B1-4E3D-40ED-AF3E-922D06DE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25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5-title-0">
            <a:extLst xmlns:a="http://schemas.openxmlformats.org/drawingml/2006/main">
              <a:ext uri="{FF2B5EF4-FFF2-40B4-BE49-F238E27FC236}">
                <a16:creationId xmlns:a16="http://schemas.microsoft.com/office/drawing/2014/main" id="{A9A9F23B-A835-4702-8F6E-622CBF98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240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주거비 기준선</a:t>
            </a:r>
          </a:p>
        </p:txBody>
      </p:sp>
      <p:sp>
        <p:nvSpPr>
          <p:cNvPr id="10" name="p5-copy-0">
            <a:extLst xmlns:a="http://schemas.openxmlformats.org/drawingml/2006/main">
              <a:ext uri="{FF2B5EF4-FFF2-40B4-BE49-F238E27FC236}">
                <a16:creationId xmlns:a16="http://schemas.microsoft.com/office/drawing/2014/main" id="{B1938588-FC2A-4B5B-96A8-CE476F1C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702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가처분소득에서 생활비, 기존 부채, 안전 버퍼를 뺀 뒤 소득 비율 상한과 교차해 월 상한과 권장액을 계산합니다.</a:t>
            </a:r>
          </a:p>
        </p:txBody>
      </p:sp>
      <p:sp>
        <p:nvSpPr>
          <p:cNvPr id="11" name="p5-row-0">
            <a:extLst xmlns:a="http://schemas.openxmlformats.org/drawingml/2006/main">
              <a:ext uri="{FF2B5EF4-FFF2-40B4-BE49-F238E27FC236}">
                <a16:creationId xmlns:a16="http://schemas.microsoft.com/office/drawing/2014/main" id="{36BCF44D-4955-4C0A-B991-656170A0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2" name="p5-num-1">
            <a:extLst xmlns:a="http://schemas.openxmlformats.org/drawingml/2006/main">
              <a:ext uri="{FF2B5EF4-FFF2-40B4-BE49-F238E27FC236}">
                <a16:creationId xmlns:a16="http://schemas.microsoft.com/office/drawing/2014/main" id="{A698F0B8-849A-42A2-BC6F-14AE3DC4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p5-title-1">
            <a:extLst xmlns:a="http://schemas.openxmlformats.org/drawingml/2006/main">
              <a:ext uri="{FF2B5EF4-FFF2-40B4-BE49-F238E27FC236}">
                <a16:creationId xmlns:a16="http://schemas.microsoft.com/office/drawing/2014/main" id="{49D30BBD-4E73-4F12-AA38-CF5E7DA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908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동일 단위의 비용 비교</a:t>
            </a:r>
          </a:p>
        </p:txBody>
      </p:sp>
      <p:sp>
        <p:nvSpPr>
          <p:cNvPr id="14" name="p5-copy-1">
            <a:extLst xmlns:a="http://schemas.openxmlformats.org/drawingml/2006/main">
              <a:ext uri="{FF2B5EF4-FFF2-40B4-BE49-F238E27FC236}">
                <a16:creationId xmlns:a16="http://schemas.microsoft.com/office/drawing/2014/main" id="{E03F2E7C-C61A-4113-9E0B-E428FAB3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90800"/>
            <a:ext cx="702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전세, 반전세, 월세를 5년 총비용과 현재가치로 비교합니다. 보증금 기회비용과 보증료도 비용 구성에 포함합니다.</a:t>
            </a:r>
          </a:p>
        </p:txBody>
      </p:sp>
      <p:sp>
        <p:nvSpPr>
          <p:cNvPr id="15" name="p5-row-1">
            <a:extLst xmlns:a="http://schemas.openxmlformats.org/drawingml/2006/main">
              <a:ext uri="{FF2B5EF4-FFF2-40B4-BE49-F238E27FC236}">
                <a16:creationId xmlns:a16="http://schemas.microsoft.com/office/drawing/2014/main" id="{0DA14A04-D866-4F7C-8016-CCFAA125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6" name="p5-num-2">
            <a:extLst xmlns:a="http://schemas.openxmlformats.org/drawingml/2006/main">
              <a:ext uri="{FF2B5EF4-FFF2-40B4-BE49-F238E27FC236}">
                <a16:creationId xmlns:a16="http://schemas.microsoft.com/office/drawing/2014/main" id="{00098E1F-F4D0-4625-A214-D50413FC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p5-title-2">
            <a:extLst xmlns:a="http://schemas.openxmlformats.org/drawingml/2006/main">
              <a:ext uri="{FF2B5EF4-FFF2-40B4-BE49-F238E27FC236}">
                <a16:creationId xmlns:a16="http://schemas.microsoft.com/office/drawing/2014/main" id="{BD4A7C1D-18AA-4C48-B5FF-85A8887A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576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판정 사유 보존</a:t>
            </a:r>
          </a:p>
        </p:txBody>
      </p:sp>
      <p:sp>
        <p:nvSpPr>
          <p:cNvPr id="18" name="p5-copy-2">
            <a:extLst xmlns:a="http://schemas.openxmlformats.org/drawingml/2006/main">
              <a:ext uri="{FF2B5EF4-FFF2-40B4-BE49-F238E27FC236}">
                <a16:creationId xmlns:a16="http://schemas.microsoft.com/office/drawing/2014/main" id="{05458523-21B5-4B87-8688-610CCA05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57600"/>
            <a:ext cx="702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모든 엔진은 결과와 함께 reasons 또는 rationale을 반환합니다. 화면, API, 상담 답변에서 같은 근거를 확인할 수 있습니다.</a:t>
            </a:r>
          </a:p>
        </p:txBody>
      </p:sp>
      <p:sp>
        <p:nvSpPr>
          <p:cNvPr id="19" name="p5-row-2">
            <a:extLst xmlns:a="http://schemas.openxmlformats.org/drawingml/2006/main">
              <a:ext uri="{FF2B5EF4-FFF2-40B4-BE49-F238E27FC236}">
                <a16:creationId xmlns:a16="http://schemas.microsoft.com/office/drawing/2014/main" id="{391D53F1-E2E0-40AE-B044-9741C070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0" name="p5-num-3">
            <a:extLst xmlns:a="http://schemas.openxmlformats.org/drawingml/2006/main">
              <a:ext uri="{FF2B5EF4-FFF2-40B4-BE49-F238E27FC236}">
                <a16:creationId xmlns:a16="http://schemas.microsoft.com/office/drawing/2014/main" id="{2B52BBBE-50B6-430C-87DB-A3000C83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1" name="p5-title-3">
            <a:extLst xmlns:a="http://schemas.openxmlformats.org/drawingml/2006/main">
              <a:ext uri="{FF2B5EF4-FFF2-40B4-BE49-F238E27FC236}">
                <a16:creationId xmlns:a16="http://schemas.microsoft.com/office/drawing/2014/main" id="{9DDFBFDA-C47C-4CFF-B62F-353FE737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244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LLM 권한 제한</a:t>
            </a:r>
          </a:p>
        </p:txBody>
      </p:sp>
      <p:sp>
        <p:nvSpPr>
          <p:cNvPr id="22" name="p5-copy-3">
            <a:extLst xmlns:a="http://schemas.openxmlformats.org/drawingml/2006/main">
              <a:ext uri="{FF2B5EF4-FFF2-40B4-BE49-F238E27FC236}">
                <a16:creationId xmlns:a16="http://schemas.microsoft.com/office/drawing/2014/main" id="{D229C885-9CFA-44F5-9C2D-9DC24D4F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702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LLM은 엔진 도구를 호출하고 반환값을 설명합니다. 금액과 자격 판정을 새로 만들지 않으며 연결 실패 시 템플릿 답변으로 전환됩니다.</a:t>
            </a:r>
          </a:p>
        </p:txBody>
      </p:sp>
      <p:sp>
        <p:nvSpPr>
          <p:cNvPr id="23" name="p5-row-3">
            <a:extLst xmlns:a="http://schemas.openxmlformats.org/drawingml/2006/main">
              <a:ext uri="{FF2B5EF4-FFF2-40B4-BE49-F238E27FC236}">
                <a16:creationId xmlns:a16="http://schemas.microsoft.com/office/drawing/2014/main" id="{D6CF9FAD-54A4-4611-93AD-6C048B15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4" name="p5-end">
            <a:extLst xmlns:a="http://schemas.openxmlformats.org/drawingml/2006/main">
              <a:ext uri="{FF2B5EF4-FFF2-40B4-BE49-F238E27FC236}">
                <a16:creationId xmlns:a16="http://schemas.microsoft.com/office/drawing/2014/main" id="{090FE465-163F-408A-8DBD-08FCC18E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055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동일 입력은 같은 판정을 반환하고, 모델 연결 여부는 핵심 계산에 영향을 주지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99305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69B1B4D7-8533-4803-A1DA-EC4F787E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" name="slide-6-head-rule">
            <a:extLst xmlns:a="http://schemas.openxmlformats.org/drawingml/2006/main">
              <a:ext uri="{FF2B5EF4-FFF2-40B4-BE49-F238E27FC236}">
                <a16:creationId xmlns:a16="http://schemas.microsoft.com/office/drawing/2014/main" id="{13197D4E-1C50-4B7B-8718-0B8E7B09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81575F7F-F3BC-4067-A8DE-267949B7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시스템 아키텍처</a:t>
            </a:r>
          </a:p>
        </p:txBody>
      </p:sp>
      <p:sp>
        <p:nvSpPr>
          <p:cNvPr id="4" name="slide-6-subtitle">
            <a:extLst xmlns:a="http://schemas.openxmlformats.org/drawingml/2006/main">
              <a:ext uri="{FF2B5EF4-FFF2-40B4-BE49-F238E27FC236}">
                <a16:creationId xmlns:a16="http://schemas.microsoft.com/office/drawing/2014/main" id="{916E723A-A008-4EDE-AB61-C03BE5E0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클라이언트, API, 판정 엔진, 저장소를 분리하고 LLM 연결은 별도 경계에 둡니다</a:t>
            </a:r>
          </a:p>
        </p:txBody>
      </p:sp>
      <p:sp>
        <p:nvSpPr>
          <p:cNvPr id="5" name="slide-6-footer-rule">
            <a:extLst xmlns:a="http://schemas.openxmlformats.org/drawingml/2006/main">
              <a:ext uri="{FF2B5EF4-FFF2-40B4-BE49-F238E27FC236}">
                <a16:creationId xmlns:a16="http://schemas.microsoft.com/office/drawing/2014/main" id="{837B8582-4E5F-4B9D-A537-ADBEB4FD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6-footer-left">
            <a:extLst xmlns:a="http://schemas.openxmlformats.org/drawingml/2006/main">
              <a:ext uri="{FF2B5EF4-FFF2-40B4-BE49-F238E27FC236}">
                <a16:creationId xmlns:a16="http://schemas.microsoft.com/office/drawing/2014/main" id="{0D487B3F-BD24-47A1-A39B-4F1A3B5E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6-footer-right">
            <a:extLst xmlns:a="http://schemas.openxmlformats.org/drawingml/2006/main">
              <a:ext uri="{FF2B5EF4-FFF2-40B4-BE49-F238E27FC236}">
                <a16:creationId xmlns:a16="http://schemas.microsoft.com/office/drawing/2014/main" id="{151A1799-507F-4309-B70E-6075D700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06 / 19</a:t>
            </a:r>
          </a:p>
        </p:txBody>
      </p:sp>
      <p:sp>
        <p:nvSpPr>
          <p:cNvPr id="8" name="p6-layer-bg-0">
            <a:extLst xmlns:a="http://schemas.openxmlformats.org/drawingml/2006/main">
              <a:ext uri="{FF2B5EF4-FFF2-40B4-BE49-F238E27FC236}">
                <a16:creationId xmlns:a16="http://schemas.microsoft.com/office/drawing/2014/main" id="{0E5EE3A7-E9B3-41FD-ADEC-A2D1344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67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6-layer-name-0">
            <a:extLst xmlns:a="http://schemas.openxmlformats.org/drawingml/2006/main">
              <a:ext uri="{FF2B5EF4-FFF2-40B4-BE49-F238E27FC236}">
                <a16:creationId xmlns:a16="http://schemas.microsoft.com/office/drawing/2014/main" id="{73FAE392-B1D1-47BC-B5F2-76BA1046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L1  클라이언트</a:t>
            </a:r>
          </a:p>
        </p:txBody>
      </p:sp>
      <p:sp>
        <p:nvSpPr>
          <p:cNvPr id="10" name="p6-layer-item-0-0">
            <a:extLst xmlns:a="http://schemas.openxmlformats.org/drawingml/2006/main">
              <a:ext uri="{FF2B5EF4-FFF2-40B4-BE49-F238E27FC236}">
                <a16:creationId xmlns:a16="http://schemas.microsoft.com/office/drawing/2014/main" id="{81535232-9165-49E3-AE8F-BFC7D41E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프로필 입력</a:t>
            </a:r>
          </a:p>
        </p:txBody>
      </p:sp>
      <p:sp>
        <p:nvSpPr>
          <p:cNvPr id="11" name="p6-layer-sep-0-1">
            <a:extLst xmlns:a="http://schemas.openxmlformats.org/drawingml/2006/main">
              <a:ext uri="{FF2B5EF4-FFF2-40B4-BE49-F238E27FC236}">
                <a16:creationId xmlns:a16="http://schemas.microsoft.com/office/drawing/2014/main" id="{DA3DECD2-40A5-4402-AEC7-63919A39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859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2" name="p6-layer-item-0-1">
            <a:extLst xmlns:a="http://schemas.openxmlformats.org/drawingml/2006/main">
              <a:ext uri="{FF2B5EF4-FFF2-40B4-BE49-F238E27FC236}">
                <a16:creationId xmlns:a16="http://schemas.microsoft.com/office/drawing/2014/main" id="{451D5454-45E1-440D-B3B7-7CCA9B05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4307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결과 화면</a:t>
            </a:r>
          </a:p>
        </p:txBody>
      </p:sp>
      <p:sp>
        <p:nvSpPr>
          <p:cNvPr id="13" name="p6-layer-sep-0-2">
            <a:extLst xmlns:a="http://schemas.openxmlformats.org/drawingml/2006/main">
              <a:ext uri="{FF2B5EF4-FFF2-40B4-BE49-F238E27FC236}">
                <a16:creationId xmlns:a16="http://schemas.microsoft.com/office/drawing/2014/main" id="{F979E29E-C94D-4235-8108-BE58229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859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4" name="p6-layer-item-0-2">
            <a:extLst xmlns:a="http://schemas.openxmlformats.org/drawingml/2006/main">
              <a:ext uri="{FF2B5EF4-FFF2-40B4-BE49-F238E27FC236}">
                <a16:creationId xmlns:a16="http://schemas.microsoft.com/office/drawing/2014/main" id="{21B8B627-7B3F-41E9-A3D5-F636E553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4307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AI 상담</a:t>
            </a:r>
          </a:p>
        </p:txBody>
      </p:sp>
      <p:sp>
        <p:nvSpPr>
          <p:cNvPr id="15" name="p6-layer-bg-1">
            <a:extLst xmlns:a="http://schemas.openxmlformats.org/drawingml/2006/main">
              <a:ext uri="{FF2B5EF4-FFF2-40B4-BE49-F238E27FC236}">
                <a16:creationId xmlns:a16="http://schemas.microsoft.com/office/drawing/2014/main" id="{4965312E-19F7-410A-94FA-3870925B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767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6-layer-name-1">
            <a:extLst xmlns:a="http://schemas.openxmlformats.org/drawingml/2006/main">
              <a:ext uri="{FF2B5EF4-FFF2-40B4-BE49-F238E27FC236}">
                <a16:creationId xmlns:a16="http://schemas.microsoft.com/office/drawing/2014/main" id="{B02F3A18-99A9-4F7A-8DC1-DFA051A9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L2  API</a:t>
            </a:r>
          </a:p>
        </p:txBody>
      </p:sp>
      <p:sp>
        <p:nvSpPr>
          <p:cNvPr id="17" name="p6-layer-item-1-0">
            <a:extLst xmlns:a="http://schemas.openxmlformats.org/drawingml/2006/main">
              <a:ext uri="{FF2B5EF4-FFF2-40B4-BE49-F238E27FC236}">
                <a16:creationId xmlns:a16="http://schemas.microsoft.com/office/drawing/2014/main" id="{E961A2D1-3272-4EAF-9BBD-34447BCC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003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FastAPI main.py</a:t>
            </a:r>
          </a:p>
        </p:txBody>
      </p:sp>
      <p:sp>
        <p:nvSpPr>
          <p:cNvPr id="18" name="p6-layer-sep-1-1">
            <a:extLst xmlns:a="http://schemas.openxmlformats.org/drawingml/2006/main">
              <a:ext uri="{FF2B5EF4-FFF2-40B4-BE49-F238E27FC236}">
                <a16:creationId xmlns:a16="http://schemas.microsoft.com/office/drawing/2014/main" id="{FC4A5341-2859-4369-80F1-12221257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431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9" name="p6-layer-item-1-1">
            <a:extLst xmlns:a="http://schemas.openxmlformats.org/drawingml/2006/main">
              <a:ext uri="{FF2B5EF4-FFF2-40B4-BE49-F238E27FC236}">
                <a16:creationId xmlns:a16="http://schemas.microsoft.com/office/drawing/2014/main" id="{6EC4B5E9-CA77-4E2E-B3A5-B711E87F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03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GET health / regions</a:t>
            </a:r>
          </a:p>
        </p:txBody>
      </p:sp>
      <p:sp>
        <p:nvSpPr>
          <p:cNvPr id="20" name="p6-layer-sep-1-2">
            <a:extLst xmlns:a="http://schemas.openxmlformats.org/drawingml/2006/main">
              <a:ext uri="{FF2B5EF4-FFF2-40B4-BE49-F238E27FC236}">
                <a16:creationId xmlns:a16="http://schemas.microsoft.com/office/drawing/2014/main" id="{584F5A20-7229-45D8-89D5-79FB7A4B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431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1" name="p6-layer-item-1-2">
            <a:extLst xmlns:a="http://schemas.openxmlformats.org/drawingml/2006/main">
              <a:ext uri="{FF2B5EF4-FFF2-40B4-BE49-F238E27FC236}">
                <a16:creationId xmlns:a16="http://schemas.microsoft.com/office/drawing/2014/main" id="{45F1CF82-7DDA-4987-863D-25F8DE56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03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POST analyze / chat</a:t>
            </a:r>
          </a:p>
        </p:txBody>
      </p:sp>
      <p:sp>
        <p:nvSpPr>
          <p:cNvPr id="22" name="p6-layer-bg-2">
            <a:extLst xmlns:a="http://schemas.openxmlformats.org/drawingml/2006/main">
              <a:ext uri="{FF2B5EF4-FFF2-40B4-BE49-F238E27FC236}">
                <a16:creationId xmlns:a16="http://schemas.microsoft.com/office/drawing/2014/main" id="{8779285E-3464-4F37-BBA7-63AAFBC9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67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6-layer-name-2">
            <a:extLst xmlns:a="http://schemas.openxmlformats.org/drawingml/2006/main">
              <a:ext uri="{FF2B5EF4-FFF2-40B4-BE49-F238E27FC236}">
                <a16:creationId xmlns:a16="http://schemas.microsoft.com/office/drawing/2014/main" id="{0300C3EB-DE7D-410C-A2F0-7E6E9CB4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L3  판정 엔진</a:t>
            </a:r>
          </a:p>
        </p:txBody>
      </p:sp>
      <p:sp>
        <p:nvSpPr>
          <p:cNvPr id="24" name="p6-layer-item-2-0">
            <a:extLst xmlns:a="http://schemas.openxmlformats.org/drawingml/2006/main">
              <a:ext uri="{FF2B5EF4-FFF2-40B4-BE49-F238E27FC236}">
                <a16:creationId xmlns:a16="http://schemas.microsoft.com/office/drawing/2014/main" id="{1F019BC6-44DC-4B6D-A4A5-B78A9FA1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57575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E1 지불능력</a:t>
            </a:r>
          </a:p>
        </p:txBody>
      </p:sp>
      <p:sp>
        <p:nvSpPr>
          <p:cNvPr id="25" name="p6-layer-sep-2-1">
            <a:extLst xmlns:a="http://schemas.openxmlformats.org/drawingml/2006/main">
              <a:ext uri="{FF2B5EF4-FFF2-40B4-BE49-F238E27FC236}">
                <a16:creationId xmlns:a16="http://schemas.microsoft.com/office/drawing/2014/main" id="{B8DEFD58-8C7C-4611-B015-353D6DB1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04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6" name="p6-layer-item-2-1">
            <a:extLst xmlns:a="http://schemas.openxmlformats.org/drawingml/2006/main">
              <a:ext uri="{FF2B5EF4-FFF2-40B4-BE49-F238E27FC236}">
                <a16:creationId xmlns:a16="http://schemas.microsoft.com/office/drawing/2014/main" id="{7A147D45-0344-4CEC-BA72-BD451571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457575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E2 정책 자격</a:t>
            </a:r>
          </a:p>
        </p:txBody>
      </p:sp>
      <p:sp>
        <p:nvSpPr>
          <p:cNvPr id="27" name="p6-layer-sep-2-2">
            <a:extLst xmlns:a="http://schemas.openxmlformats.org/drawingml/2006/main">
              <a:ext uri="{FF2B5EF4-FFF2-40B4-BE49-F238E27FC236}">
                <a16:creationId xmlns:a16="http://schemas.microsoft.com/office/drawing/2014/main" id="{31A4DF35-7650-4A1E-ACFE-6D595258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04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8" name="p6-layer-item-2-2">
            <a:extLst xmlns:a="http://schemas.openxmlformats.org/drawingml/2006/main">
              <a:ext uri="{FF2B5EF4-FFF2-40B4-BE49-F238E27FC236}">
                <a16:creationId xmlns:a16="http://schemas.microsoft.com/office/drawing/2014/main" id="{44123D59-65F7-4E51-8FE5-30EA0992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57575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E3 총비용</a:t>
            </a:r>
          </a:p>
        </p:txBody>
      </p:sp>
      <p:sp>
        <p:nvSpPr>
          <p:cNvPr id="29" name="p6-layer-sep-2-3">
            <a:extLst xmlns:a="http://schemas.openxmlformats.org/drawingml/2006/main">
              <a:ext uri="{FF2B5EF4-FFF2-40B4-BE49-F238E27FC236}">
                <a16:creationId xmlns:a16="http://schemas.microsoft.com/office/drawing/2014/main" id="{A391FDB4-C9F4-4B3F-82F7-425B447F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004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30" name="p6-layer-item-2-3">
            <a:extLst xmlns:a="http://schemas.openxmlformats.org/drawingml/2006/main">
              <a:ext uri="{FF2B5EF4-FFF2-40B4-BE49-F238E27FC236}">
                <a16:creationId xmlns:a16="http://schemas.microsoft.com/office/drawing/2014/main" id="{A0FE3972-303D-4468-BD5A-D3B79D03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57575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E4 보증금 위험</a:t>
            </a:r>
          </a:p>
        </p:txBody>
      </p:sp>
      <p:sp>
        <p:nvSpPr>
          <p:cNvPr id="31" name="p6-layer-bg-3">
            <a:extLst xmlns:a="http://schemas.openxmlformats.org/drawingml/2006/main">
              <a:ext uri="{FF2B5EF4-FFF2-40B4-BE49-F238E27FC236}">
                <a16:creationId xmlns:a16="http://schemas.microsoft.com/office/drawing/2014/main" id="{24B048AE-BC40-4731-A6EF-D27B30CC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67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6-layer-name-3">
            <a:extLst xmlns:a="http://schemas.openxmlformats.org/drawingml/2006/main">
              <a:ext uri="{FF2B5EF4-FFF2-40B4-BE49-F238E27FC236}">
                <a16:creationId xmlns:a16="http://schemas.microsoft.com/office/drawing/2014/main" id="{8CFA1A42-557F-4FE7-9F9F-F765D13C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L4  데이터</a:t>
            </a:r>
          </a:p>
        </p:txBody>
      </p:sp>
      <p:sp>
        <p:nvSpPr>
          <p:cNvPr id="33" name="p6-layer-item-3-0">
            <a:extLst xmlns:a="http://schemas.openxmlformats.org/drawingml/2006/main">
              <a:ext uri="{FF2B5EF4-FFF2-40B4-BE49-F238E27FC236}">
                <a16:creationId xmlns:a16="http://schemas.microsoft.com/office/drawing/2014/main" id="{BEA96BF3-741A-4086-AB2D-9DA4E54D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148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SQLite 저장소</a:t>
            </a:r>
          </a:p>
        </p:txBody>
      </p:sp>
      <p:sp>
        <p:nvSpPr>
          <p:cNvPr id="34" name="p6-layer-sep-3-1">
            <a:extLst xmlns:a="http://schemas.openxmlformats.org/drawingml/2006/main">
              <a:ext uri="{FF2B5EF4-FFF2-40B4-BE49-F238E27FC236}">
                <a16:creationId xmlns:a16="http://schemas.microsoft.com/office/drawing/2014/main" id="{28D033D1-377F-4D7E-8F73-55F6AEB9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576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35" name="p6-layer-item-3-1">
            <a:extLst xmlns:a="http://schemas.openxmlformats.org/drawingml/2006/main">
              <a:ext uri="{FF2B5EF4-FFF2-40B4-BE49-F238E27FC236}">
                <a16:creationId xmlns:a16="http://schemas.microsoft.com/office/drawing/2014/main" id="{FA5FA223-E824-46C3-B324-8C014B03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148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data/*.json 시드</a:t>
            </a:r>
          </a:p>
        </p:txBody>
      </p:sp>
      <p:sp>
        <p:nvSpPr>
          <p:cNvPr id="36" name="p6-layer-sep-3-2">
            <a:extLst xmlns:a="http://schemas.openxmlformats.org/drawingml/2006/main">
              <a:ext uri="{FF2B5EF4-FFF2-40B4-BE49-F238E27FC236}">
                <a16:creationId xmlns:a16="http://schemas.microsoft.com/office/drawing/2014/main" id="{A2CC5CA1-9C6D-4A6B-8CB9-F2FFDE32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576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37" name="p6-layer-item-3-2">
            <a:extLst xmlns:a="http://schemas.openxmlformats.org/drawingml/2006/main">
              <a:ext uri="{FF2B5EF4-FFF2-40B4-BE49-F238E27FC236}">
                <a16:creationId xmlns:a16="http://schemas.microsoft.com/office/drawing/2014/main" id="{7DE6E553-2E4C-4C8D-A1F8-3A8F2CC1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14825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출처와 고지 필드</a:t>
            </a:r>
          </a:p>
        </p:txBody>
      </p:sp>
      <p:sp>
        <p:nvSpPr>
          <p:cNvPr id="38" name="p6-side-accent">
            <a:extLst xmlns:a="http://schemas.openxmlformats.org/drawingml/2006/main">
              <a:ext uri="{FF2B5EF4-FFF2-40B4-BE49-F238E27FC236}">
                <a16:creationId xmlns:a16="http://schemas.microsoft.com/office/drawing/2014/main" id="{C4EE85F2-78EC-444A-8897-78A5AC5F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240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77913"/>
            </a:solidFill>
            <a:prstDash val="solid"/>
          </a:ln>
        </p:spPr>
      </p:sp>
      <p:sp>
        <p:nvSpPr>
          <p:cNvPr id="39" name="p6-side-title">
            <a:extLst xmlns:a="http://schemas.openxmlformats.org/drawingml/2006/main">
              <a:ext uri="{FF2B5EF4-FFF2-40B4-BE49-F238E27FC236}">
                <a16:creationId xmlns:a16="http://schemas.microsoft.com/office/drawing/2014/main" id="{EDB2B2BE-4FA4-434B-8370-1303E5DC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383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LLM 연결 경계</a:t>
            </a:r>
          </a:p>
        </p:txBody>
      </p:sp>
      <p:sp>
        <p:nvSpPr>
          <p:cNvPr id="40" name="p6-side-copy">
            <a:extLst xmlns:a="http://schemas.openxmlformats.org/drawingml/2006/main">
              <a:ext uri="{FF2B5EF4-FFF2-40B4-BE49-F238E27FC236}">
                <a16:creationId xmlns:a16="http://schemas.microsoft.com/office/drawing/2014/main" id="{03B15730-CAF4-4536-B7D2-8C8A0020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81200"/>
            <a:ext cx="27432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상담 요청에서만 사용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엔진 도구 스키마를 공통 형식으로 변환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금액과 판정은 엔진 반환값만 사용</a:t>
            </a:r>
          </a:p>
        </p:txBody>
      </p:sp>
      <p:sp>
        <p:nvSpPr>
          <p:cNvPr id="41" name="p6-side-divider">
            <a:extLst xmlns:a="http://schemas.openxmlformats.org/drawingml/2006/main">
              <a:ext uri="{FF2B5EF4-FFF2-40B4-BE49-F238E27FC236}">
                <a16:creationId xmlns:a16="http://schemas.microsoft.com/office/drawing/2014/main" id="{11E1DC98-56EA-4D18-970B-C9BFACDB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42" name="p6-provider-label">
            <a:extLst xmlns:a="http://schemas.openxmlformats.org/drawingml/2006/main">
              <a:ext uri="{FF2B5EF4-FFF2-40B4-BE49-F238E27FC236}">
                <a16:creationId xmlns:a16="http://schemas.microsoft.com/office/drawing/2014/main" id="{21D37051-6230-424A-A440-E8393E2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52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연결 순서</a:t>
            </a:r>
          </a:p>
        </p:txBody>
      </p:sp>
      <p:sp>
        <p:nvSpPr>
          <p:cNvPr id="43" name="p6-provider-copy">
            <a:extLst xmlns:a="http://schemas.openxmlformats.org/drawingml/2006/main">
              <a:ext uri="{FF2B5EF4-FFF2-40B4-BE49-F238E27FC236}">
                <a16:creationId xmlns:a16="http://schemas.microsoft.com/office/drawing/2014/main" id="{B3B3A86F-AF36-4BA3-8AA2-2E02C05B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2743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1  OpenAI function calling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2  Anthropic tool use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3  결정론적 템플릿</a:t>
            </a:r>
          </a:p>
        </p:txBody>
      </p:sp>
      <p:sp>
        <p:nvSpPr>
          <p:cNvPr id="44" name="p6-contract">
            <a:extLst xmlns:a="http://schemas.openxmlformats.org/drawingml/2006/main">
              <a:ext uri="{FF2B5EF4-FFF2-40B4-BE49-F238E27FC236}">
                <a16:creationId xmlns:a16="http://schemas.microsoft.com/office/drawing/2014/main" id="{EBC8F4F1-97A6-4082-8705-1BD3C0C9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5300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시민 판정 경로 4종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API 계약 전체는 18종</a:t>
            </a:r>
          </a:p>
        </p:txBody>
      </p:sp>
      <p:sp>
        <p:nvSpPr>
          <p:cNvPr id="45" name="p6-note">
            <a:extLst xmlns:a="http://schemas.openxmlformats.org/drawingml/2006/main">
              <a:ext uri="{FF2B5EF4-FFF2-40B4-BE49-F238E27FC236}">
                <a16:creationId xmlns:a16="http://schemas.microsoft.com/office/drawing/2014/main" id="{B9C0F19C-5475-466F-BB0A-F40340D9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백엔드 미기동 시에도 생성물 기반 로컬 판정으로 핵심 화면을 재현합니다.</a:t>
            </a:r>
          </a:p>
        </p:txBody>
      </p:sp>
    </p:spTree>
    <p:extLst>
      <p:ext uri="{BB962C8B-B14F-4D97-AF65-F5344CB8AC3E}">
        <p14:creationId xmlns:p14="http://schemas.microsoft.com/office/powerpoint/2010/main" val="12504892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14F3B5DD-513F-4527-BF99-2CEFB119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2" name="slide-7-head-rule">
            <a:extLst xmlns:a="http://schemas.openxmlformats.org/drawingml/2006/main">
              <a:ext uri="{FF2B5EF4-FFF2-40B4-BE49-F238E27FC236}">
                <a16:creationId xmlns:a16="http://schemas.microsoft.com/office/drawing/2014/main" id="{D05EC4A1-93D1-4F4C-9FC7-E85314AC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F006E8E0-FF0F-4D23-A10D-F7DF193F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판정 엔진의 처리 순서</a:t>
            </a:r>
          </a:p>
        </p:txBody>
      </p:sp>
      <p:sp>
        <p:nvSpPr>
          <p:cNvPr id="4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7C5BDEDF-4177-4B5B-811E-A1E78589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E1에서 월 주거비 상한을 확정하고 나머지 엔진이 그 값을 공통 제약으로 사용합니다</a:t>
            </a:r>
          </a:p>
        </p:txBody>
      </p:sp>
      <p:sp>
        <p:nvSpPr>
          <p:cNvPr id="5" name="slide-7-footer-rule">
            <a:extLst xmlns:a="http://schemas.openxmlformats.org/drawingml/2006/main">
              <a:ext uri="{FF2B5EF4-FFF2-40B4-BE49-F238E27FC236}">
                <a16:creationId xmlns:a16="http://schemas.microsoft.com/office/drawing/2014/main" id="{39751497-B78D-41BA-AADE-2DDA557F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7-footer-left">
            <a:extLst xmlns:a="http://schemas.openxmlformats.org/drawingml/2006/main">
              <a:ext uri="{FF2B5EF4-FFF2-40B4-BE49-F238E27FC236}">
                <a16:creationId xmlns:a16="http://schemas.microsoft.com/office/drawing/2014/main" id="{D512A617-1D67-45B7-947B-94A5ABF2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7-footer-right">
            <a:extLst xmlns:a="http://schemas.openxmlformats.org/drawingml/2006/main">
              <a:ext uri="{FF2B5EF4-FFF2-40B4-BE49-F238E27FC236}">
                <a16:creationId xmlns:a16="http://schemas.microsoft.com/office/drawing/2014/main" id="{EA58FC11-2ECD-4DFF-879D-710F338E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07 / 19</a:t>
            </a:r>
          </a:p>
        </p:txBody>
      </p:sp>
      <p:sp>
        <p:nvSpPr>
          <p:cNvPr id="8" name="p7-num-0">
            <a:extLst xmlns:a="http://schemas.openxmlformats.org/drawingml/2006/main">
              <a:ext uri="{FF2B5EF4-FFF2-40B4-BE49-F238E27FC236}">
                <a16:creationId xmlns:a16="http://schemas.microsoft.com/office/drawing/2014/main" id="{0B3DA8DF-EC65-4BFA-8DDE-C4411F7B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7-head-0">
            <a:extLst xmlns:a="http://schemas.openxmlformats.org/drawingml/2006/main">
              <a:ext uri="{FF2B5EF4-FFF2-40B4-BE49-F238E27FC236}">
                <a16:creationId xmlns:a16="http://schemas.microsoft.com/office/drawing/2014/main" id="{E27BF260-CA77-4EFC-8B75-87454C5C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p7-rule-0">
            <a:extLst xmlns:a="http://schemas.openxmlformats.org/drawingml/2006/main">
              <a:ext uri="{FF2B5EF4-FFF2-40B4-BE49-F238E27FC236}">
                <a16:creationId xmlns:a16="http://schemas.microsoft.com/office/drawing/2014/main" id="{1AF84F9C-06F8-4EAA-A88E-670DC7BA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1" name="p7-copy-0">
            <a:extLst xmlns:a="http://schemas.openxmlformats.org/drawingml/2006/main">
              <a:ext uri="{FF2B5EF4-FFF2-40B4-BE49-F238E27FC236}">
                <a16:creationId xmlns:a16="http://schemas.microsoft.com/office/drawing/2014/main" id="{07CF2A95-877D-4C70-8804-FC61CB6A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943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나이와 가구 조건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소득, 자산, 부채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희망 지역과 주거 조건</a:t>
            </a:r>
          </a:p>
        </p:txBody>
      </p:sp>
      <p:sp>
        <p:nvSpPr>
          <p:cNvPr id="12" name="p7-sep-0">
            <a:extLst xmlns:a="http://schemas.openxmlformats.org/drawingml/2006/main">
              <a:ext uri="{FF2B5EF4-FFF2-40B4-BE49-F238E27FC236}">
                <a16:creationId xmlns:a16="http://schemas.microsoft.com/office/drawing/2014/main" id="{D78DD1A3-86E8-4DE1-A8AB-429F5D54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0020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3" name="p7-num-1">
            <a:extLst xmlns:a="http://schemas.openxmlformats.org/drawingml/2006/main">
              <a:ext uri="{FF2B5EF4-FFF2-40B4-BE49-F238E27FC236}">
                <a16:creationId xmlns:a16="http://schemas.microsoft.com/office/drawing/2014/main" id="{BF5B97F3-27FA-4D0D-B018-21074ED2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002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4" name="p7-head-1">
            <a:extLst xmlns:a="http://schemas.openxmlformats.org/drawingml/2006/main">
              <a:ext uri="{FF2B5EF4-FFF2-40B4-BE49-F238E27FC236}">
                <a16:creationId xmlns:a16="http://schemas.microsoft.com/office/drawing/2014/main" id="{D0AD8E59-33ED-4341-A872-963D37ED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574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기준선 계산</a:t>
            </a:r>
          </a:p>
        </p:txBody>
      </p:sp>
      <p:sp>
        <p:nvSpPr>
          <p:cNvPr id="15" name="p7-rule-1">
            <a:extLst xmlns:a="http://schemas.openxmlformats.org/drawingml/2006/main">
              <a:ext uri="{FF2B5EF4-FFF2-40B4-BE49-F238E27FC236}">
                <a16:creationId xmlns:a16="http://schemas.microsoft.com/office/drawing/2014/main" id="{53D5E4DC-3983-43A1-BC43-47168246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77913"/>
            </a:solidFill>
            <a:prstDash val="solid"/>
          </a:ln>
        </p:spPr>
      </p:sp>
      <p:sp>
        <p:nvSpPr>
          <p:cNvPr id="16" name="p7-copy-1">
            <a:extLst xmlns:a="http://schemas.openxmlformats.org/drawingml/2006/main">
              <a:ext uri="{FF2B5EF4-FFF2-40B4-BE49-F238E27FC236}">
                <a16:creationId xmlns:a16="http://schemas.microsoft.com/office/drawing/2014/main" id="{91D180C6-B2D4-4128-93E9-D95DD3E9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1943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E1 지불능력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월 상한과 권장액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소득·부채 밴드</a:t>
            </a:r>
          </a:p>
        </p:txBody>
      </p:sp>
      <p:sp>
        <p:nvSpPr>
          <p:cNvPr id="17" name="p7-sep-1">
            <a:extLst xmlns:a="http://schemas.openxmlformats.org/drawingml/2006/main">
              <a:ext uri="{FF2B5EF4-FFF2-40B4-BE49-F238E27FC236}">
                <a16:creationId xmlns:a16="http://schemas.microsoft.com/office/drawing/2014/main" id="{D6E255F2-8F88-43E9-8844-D46743F7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8" name="p7-num-2">
            <a:extLst xmlns:a="http://schemas.openxmlformats.org/drawingml/2006/main">
              <a:ext uri="{FF2B5EF4-FFF2-40B4-BE49-F238E27FC236}">
                <a16:creationId xmlns:a16="http://schemas.microsoft.com/office/drawing/2014/main" id="{92E3D7FE-F3F9-4C7D-A40B-56F1EF2C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002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9" name="p7-head-2">
            <a:extLst xmlns:a="http://schemas.openxmlformats.org/drawingml/2006/main">
              <a:ext uri="{FF2B5EF4-FFF2-40B4-BE49-F238E27FC236}">
                <a16:creationId xmlns:a16="http://schemas.microsoft.com/office/drawing/2014/main" id="{99066BF0-6AC0-40F0-A482-5E8CCC64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574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병렬 평가</a:t>
            </a:r>
          </a:p>
        </p:txBody>
      </p:sp>
      <p:sp>
        <p:nvSpPr>
          <p:cNvPr id="20" name="p7-rule-2">
            <a:extLst xmlns:a="http://schemas.openxmlformats.org/drawingml/2006/main">
              <a:ext uri="{FF2B5EF4-FFF2-40B4-BE49-F238E27FC236}">
                <a16:creationId xmlns:a16="http://schemas.microsoft.com/office/drawing/2014/main" id="{9BC6A856-5903-406F-867B-7962E7F2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33650"/>
            <a:ext cx="272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1" name="p7-copy-2">
            <a:extLst xmlns:a="http://schemas.openxmlformats.org/drawingml/2006/main">
              <a:ext uri="{FF2B5EF4-FFF2-40B4-BE49-F238E27FC236}">
                <a16:creationId xmlns:a16="http://schemas.microsoft.com/office/drawing/2014/main" id="{59764956-7CB1-4942-96A5-CCDBAD23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81300"/>
            <a:ext cx="27241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E2 정책 자격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E3 전월세 총비용과 NPV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E4 보증금 위험 점수</a:t>
            </a:r>
          </a:p>
        </p:txBody>
      </p:sp>
      <p:sp>
        <p:nvSpPr>
          <p:cNvPr id="22" name="p7-sep-2">
            <a:extLst xmlns:a="http://schemas.openxmlformats.org/drawingml/2006/main">
              <a:ext uri="{FF2B5EF4-FFF2-40B4-BE49-F238E27FC236}">
                <a16:creationId xmlns:a16="http://schemas.microsoft.com/office/drawing/2014/main" id="{FEDE4820-59F8-4624-9525-E2C6BAD7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3" name="p7-num-3">
            <a:extLst xmlns:a="http://schemas.openxmlformats.org/drawingml/2006/main">
              <a:ext uri="{FF2B5EF4-FFF2-40B4-BE49-F238E27FC236}">
                <a16:creationId xmlns:a16="http://schemas.microsoft.com/office/drawing/2014/main" id="{8AAA8438-A608-44FA-8D19-958BA775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002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4" name="p7-head-3">
            <a:extLst xmlns:a="http://schemas.openxmlformats.org/drawingml/2006/main">
              <a:ext uri="{FF2B5EF4-FFF2-40B4-BE49-F238E27FC236}">
                <a16:creationId xmlns:a16="http://schemas.microsoft.com/office/drawing/2014/main" id="{F0BBE062-0A81-4FEC-8131-F3A3AE26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응답 구성</a:t>
            </a:r>
          </a:p>
        </p:txBody>
      </p:sp>
      <p:sp>
        <p:nvSpPr>
          <p:cNvPr id="25" name="p7-rule-3">
            <a:extLst xmlns:a="http://schemas.openxmlformats.org/drawingml/2006/main">
              <a:ext uri="{FF2B5EF4-FFF2-40B4-BE49-F238E27FC236}">
                <a16:creationId xmlns:a16="http://schemas.microsoft.com/office/drawing/2014/main" id="{0E57CFDB-06F5-42D8-B7F3-7B986DFF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3365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6" name="p7-copy-3">
            <a:extLst xmlns:a="http://schemas.openxmlformats.org/drawingml/2006/main">
              <a:ext uri="{FF2B5EF4-FFF2-40B4-BE49-F238E27FC236}">
                <a16:creationId xmlns:a16="http://schemas.microsoft.com/office/drawing/2014/main" id="{1384AA49-552F-4DC3-A3D2-1BE96DB9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2476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affordability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scenarios / policies / risk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summary / meta / internal</a:t>
            </a:r>
          </a:p>
        </p:txBody>
      </p:sp>
      <p:sp>
        <p:nvSpPr>
          <p:cNvPr id="27" name="p7-result">
            <a:extLst xmlns:a="http://schemas.openxmlformats.org/drawingml/2006/main">
              <a:ext uri="{FF2B5EF4-FFF2-40B4-BE49-F238E27FC236}">
                <a16:creationId xmlns:a16="http://schemas.microsoft.com/office/drawing/2014/main" id="{FCBD821A-02E5-482E-BCB5-A4C5FFC5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08204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7-result-head">
            <a:extLst xmlns:a="http://schemas.openxmlformats.org/drawingml/2006/main">
              <a:ext uri="{FF2B5EF4-FFF2-40B4-BE49-F238E27FC236}">
                <a16:creationId xmlns:a16="http://schemas.microsoft.com/office/drawing/2014/main" id="{41E90077-4F15-483F-8730-9D3747BD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434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판정 근거</a:t>
            </a:r>
          </a:p>
        </p:txBody>
      </p:sp>
      <p:sp>
        <p:nvSpPr>
          <p:cNvPr id="29" name="p7-result-copy">
            <a:extLst xmlns:a="http://schemas.openxmlformats.org/drawingml/2006/main">
              <a:ext uri="{FF2B5EF4-FFF2-40B4-BE49-F238E27FC236}">
                <a16:creationId xmlns:a16="http://schemas.microsoft.com/office/drawing/2014/main" id="{996B898A-C9E2-4A5B-858C-C292F98E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0058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각 응답 블록에는 rationale, reasons 또는 factors가 포함됩니다. 상담 LLM은 이 배열과 엔진 수치를 이용해 설명하며 숫자를 다시 계산하지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7579857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349562C9-22DD-46F0-999E-DEFE0A5D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2" name="slide-8-head-rule">
            <a:extLst xmlns:a="http://schemas.openxmlformats.org/drawingml/2006/main">
              <a:ext uri="{FF2B5EF4-FFF2-40B4-BE49-F238E27FC236}">
                <a16:creationId xmlns:a16="http://schemas.microsoft.com/office/drawing/2014/main" id="{EA5AF697-4444-44F9-BC85-1149A527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D728C023-0335-42BB-A0C2-27401B87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E1 주거지불능력 엔진</a:t>
            </a:r>
          </a:p>
        </p:txBody>
      </p:sp>
      <p:sp>
        <p:nvSpPr>
          <p:cNvPr id="4" name="slide-8-subtitle">
            <a:extLst xmlns:a="http://schemas.openxmlformats.org/drawingml/2006/main">
              <a:ext uri="{FF2B5EF4-FFF2-40B4-BE49-F238E27FC236}">
                <a16:creationId xmlns:a16="http://schemas.microsoft.com/office/drawing/2014/main" id="{499B5A20-AE49-42F2-BBD2-854F38E5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가처분소득에서 실제 잔여 여력을 계산해 월 주거비 상한과 권장액을 구합니다</a:t>
            </a:r>
          </a:p>
        </p:txBody>
      </p:sp>
      <p:sp>
        <p:nvSpPr>
          <p:cNvPr id="5" name="slide-8-footer-rule">
            <a:extLst xmlns:a="http://schemas.openxmlformats.org/drawingml/2006/main">
              <a:ext uri="{FF2B5EF4-FFF2-40B4-BE49-F238E27FC236}">
                <a16:creationId xmlns:a16="http://schemas.microsoft.com/office/drawing/2014/main" id="{A4A28635-4A90-4531-9E80-981DDCA0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8-footer-left">
            <a:extLst xmlns:a="http://schemas.openxmlformats.org/drawingml/2006/main">
              <a:ext uri="{FF2B5EF4-FFF2-40B4-BE49-F238E27FC236}">
                <a16:creationId xmlns:a16="http://schemas.microsoft.com/office/drawing/2014/main" id="{C7171E99-9CAD-4D04-BE40-5317C20B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8-footer-right">
            <a:extLst xmlns:a="http://schemas.openxmlformats.org/drawingml/2006/main">
              <a:ext uri="{FF2B5EF4-FFF2-40B4-BE49-F238E27FC236}">
                <a16:creationId xmlns:a16="http://schemas.microsoft.com/office/drawing/2014/main" id="{13889578-8556-4B3B-B2D7-A16F9675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08 / 19</a:t>
            </a:r>
          </a:p>
        </p:txBody>
      </p:sp>
      <p:sp>
        <p:nvSpPr>
          <p:cNvPr id="8" name="p8-engine-label">
            <a:extLst xmlns:a="http://schemas.openxmlformats.org/drawingml/2006/main">
              <a:ext uri="{FF2B5EF4-FFF2-40B4-BE49-F238E27FC236}">
                <a16:creationId xmlns:a16="http://schemas.microsoft.com/office/drawing/2014/main" id="{CCA8F716-EA29-4643-B9C1-AC548919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판정 엔진 1 / 4</a:t>
            </a:r>
          </a:p>
        </p:txBody>
      </p:sp>
      <p:sp>
        <p:nvSpPr>
          <p:cNvPr id="9" name="p8-col-a">
            <a:extLst xmlns:a="http://schemas.openxmlformats.org/drawingml/2006/main">
              <a:ext uri="{FF2B5EF4-FFF2-40B4-BE49-F238E27FC236}">
                <a16:creationId xmlns:a16="http://schemas.microsoft.com/office/drawing/2014/main" id="{0040FDD9-5AA8-4BD2-B5C8-77177A71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0" name="p8-col-b">
            <a:extLst xmlns:a="http://schemas.openxmlformats.org/drawingml/2006/main">
              <a:ext uri="{FF2B5EF4-FFF2-40B4-BE49-F238E27FC236}">
                <a16:creationId xmlns:a16="http://schemas.microsoft.com/office/drawing/2014/main" id="{2F5BA84E-C06E-421E-95D6-0A6BCC72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1" name="p8-input-accent">
            <a:extLst xmlns:a="http://schemas.openxmlformats.org/drawingml/2006/main">
              <a:ext uri="{FF2B5EF4-FFF2-40B4-BE49-F238E27FC236}">
                <a16:creationId xmlns:a16="http://schemas.microsoft.com/office/drawing/2014/main" id="{AC290642-0114-4EC4-8CC5-49D3B7D6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12" name="p8-input-title">
            <a:extLst xmlns:a="http://schemas.openxmlformats.org/drawingml/2006/main">
              <a:ext uri="{FF2B5EF4-FFF2-40B4-BE49-F238E27FC236}">
                <a16:creationId xmlns:a16="http://schemas.microsoft.com/office/drawing/2014/main" id="{35CEA1D0-C331-4CF7-ABFD-48DD315F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3" name="p8-input-copy">
            <a:extLst xmlns:a="http://schemas.openxmlformats.org/drawingml/2006/main">
              <a:ext uri="{FF2B5EF4-FFF2-40B4-BE49-F238E27FC236}">
                <a16:creationId xmlns:a16="http://schemas.microsoft.com/office/drawing/2014/main" id="{8DDE35A1-98ED-48D1-8E2F-F29123BE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526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월 실수령액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연소득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기존 부채 월 상환액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가구원 수</a:t>
            </a:r>
          </a:p>
        </p:txBody>
      </p:sp>
      <p:sp>
        <p:nvSpPr>
          <p:cNvPr id="14" name="p8-logic-accent">
            <a:extLst xmlns:a="http://schemas.openxmlformats.org/drawingml/2006/main">
              <a:ext uri="{FF2B5EF4-FFF2-40B4-BE49-F238E27FC236}">
                <a16:creationId xmlns:a16="http://schemas.microsoft.com/office/drawing/2014/main" id="{99A0B12C-924E-4705-8483-A1C37C72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77913"/>
            </a:solidFill>
            <a:prstDash val="solid"/>
          </a:ln>
        </p:spPr>
      </p:sp>
      <p:sp>
        <p:nvSpPr>
          <p:cNvPr id="15" name="p8-logic-title">
            <a:extLst xmlns:a="http://schemas.openxmlformats.org/drawingml/2006/main">
              <a:ext uri="{FF2B5EF4-FFF2-40B4-BE49-F238E27FC236}">
                <a16:creationId xmlns:a16="http://schemas.microsoft.com/office/drawing/2014/main" id="{5798414B-2EC3-4C21-BEF1-6563CC8F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0500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계산 규칙</a:t>
            </a:r>
          </a:p>
        </p:txBody>
      </p:sp>
      <p:sp>
        <p:nvSpPr>
          <p:cNvPr id="16" name="p8-logic-num-0">
            <a:extLst xmlns:a="http://schemas.openxmlformats.org/drawingml/2006/main">
              <a:ext uri="{FF2B5EF4-FFF2-40B4-BE49-F238E27FC236}">
                <a16:creationId xmlns:a16="http://schemas.microsoft.com/office/drawing/2014/main" id="{10CE3FF5-05F8-4005-B181-A5648440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479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p8-logic-copy-0">
            <a:extLst xmlns:a="http://schemas.openxmlformats.org/drawingml/2006/main">
              <a:ext uri="{FF2B5EF4-FFF2-40B4-BE49-F238E27FC236}">
                <a16:creationId xmlns:a16="http://schemas.microsoft.com/office/drawing/2014/main" id="{EE1DD25C-59FB-4E47-92BA-402028B5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383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비율 상한 = 가처분소득 × 상한 비율</a:t>
            </a:r>
          </a:p>
        </p:txBody>
      </p:sp>
      <p:sp>
        <p:nvSpPr>
          <p:cNvPr id="18" name="p8-logic-num-1">
            <a:extLst xmlns:a="http://schemas.openxmlformats.org/drawingml/2006/main">
              <a:ext uri="{FF2B5EF4-FFF2-40B4-BE49-F238E27FC236}">
                <a16:creationId xmlns:a16="http://schemas.microsoft.com/office/drawing/2014/main" id="{DACA2331-5ED9-46D8-A6ED-56FFBB22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384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p8-logic-copy-1">
            <a:extLst xmlns:a="http://schemas.openxmlformats.org/drawingml/2006/main">
              <a:ext uri="{FF2B5EF4-FFF2-40B4-BE49-F238E27FC236}">
                <a16:creationId xmlns:a16="http://schemas.microsoft.com/office/drawing/2014/main" id="{24E55442-C580-470C-ACA7-76CE69D0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289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잔여 여력 = 소득 − 생활비 − 기존 부채 − 안전 버퍼</a:t>
            </a:r>
          </a:p>
        </p:txBody>
      </p:sp>
      <p:sp>
        <p:nvSpPr>
          <p:cNvPr id="20" name="p8-logic-num-2">
            <a:extLst xmlns:a="http://schemas.openxmlformats.org/drawingml/2006/main">
              <a:ext uri="{FF2B5EF4-FFF2-40B4-BE49-F238E27FC236}">
                <a16:creationId xmlns:a16="http://schemas.microsoft.com/office/drawing/2014/main" id="{490800E5-B259-4843-8A96-EA7A25BF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p8-logic-copy-2">
            <a:extLst xmlns:a="http://schemas.openxmlformats.org/drawingml/2006/main">
              <a:ext uri="{FF2B5EF4-FFF2-40B4-BE49-F238E27FC236}">
                <a16:creationId xmlns:a16="http://schemas.microsoft.com/office/drawing/2014/main" id="{60C15CA0-9AE7-46F8-BF95-11A07CB7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4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비율 상한과 잔여 여력 중 작은 값을 월 상한으로 확정</a:t>
            </a:r>
          </a:p>
        </p:txBody>
      </p:sp>
      <p:sp>
        <p:nvSpPr>
          <p:cNvPr id="22" name="p8-logic-num-3">
            <a:extLst xmlns:a="http://schemas.openxmlformats.org/drawingml/2006/main">
              <a:ext uri="{FF2B5EF4-FFF2-40B4-BE49-F238E27FC236}">
                <a16:creationId xmlns:a16="http://schemas.microsoft.com/office/drawing/2014/main" id="{A6204D7E-7507-416D-B016-6D3C15AD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195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p8-logic-copy-3">
            <a:extLst xmlns:a="http://schemas.openxmlformats.org/drawingml/2006/main">
              <a:ext uri="{FF2B5EF4-FFF2-40B4-BE49-F238E27FC236}">
                <a16:creationId xmlns:a16="http://schemas.microsoft.com/office/drawing/2014/main" id="{631C6143-1C0B-476D-9FBE-C4ED9C02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100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월 상한에 안전 마진을 적용해 권장액 산출</a:t>
            </a:r>
          </a:p>
        </p:txBody>
      </p:sp>
      <p:sp>
        <p:nvSpPr>
          <p:cNvPr id="24" name="p8-output-accent">
            <a:extLst xmlns:a="http://schemas.openxmlformats.org/drawingml/2006/main">
              <a:ext uri="{FF2B5EF4-FFF2-40B4-BE49-F238E27FC236}">
                <a16:creationId xmlns:a16="http://schemas.microsoft.com/office/drawing/2014/main" id="{43901773-47C4-4212-8592-914B1329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5" name="p8-output-title">
            <a:extLst xmlns:a="http://schemas.openxmlformats.org/drawingml/2006/main">
              <a:ext uri="{FF2B5EF4-FFF2-40B4-BE49-F238E27FC236}">
                <a16:creationId xmlns:a16="http://schemas.microsoft.com/office/drawing/2014/main" id="{369C7FD5-2CA8-4DBF-80CF-DA758060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6" name="p8-output-copy">
            <a:extLst xmlns:a="http://schemas.openxmlformats.org/drawingml/2006/main">
              <a:ext uri="{FF2B5EF4-FFF2-40B4-BE49-F238E27FC236}">
                <a16:creationId xmlns:a16="http://schemas.microsoft.com/office/drawing/2014/main" id="{426B0D51-8EBA-4660-9BAF-05E1FCFC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9718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maxMonthlyHousingCostKRW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recommendedMonthlyHousingCostKRW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breakdown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band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rationale[]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밴드: safe / caution / risk</a:t>
            </a:r>
          </a:p>
        </p:txBody>
      </p:sp>
      <p:sp>
        <p:nvSpPr>
          <p:cNvPr id="27" name="p8-example-bg">
            <a:extLst xmlns:a="http://schemas.openxmlformats.org/drawingml/2006/main">
              <a:ext uri="{FF2B5EF4-FFF2-40B4-BE49-F238E27FC236}">
                <a16:creationId xmlns:a16="http://schemas.microsoft.com/office/drawing/2014/main" id="{19EA5C88-E810-4AAD-A61B-28360432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8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8-example-label">
            <a:extLst xmlns:a="http://schemas.openxmlformats.org/drawingml/2006/main">
              <a:ext uri="{FF2B5EF4-FFF2-40B4-BE49-F238E27FC236}">
                <a16:creationId xmlns:a16="http://schemas.microsoft.com/office/drawing/2014/main" id="{3DD76002-BD5C-48D7-B2E2-EE3AD358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0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엔진 반환 예시</a:t>
            </a:r>
          </a:p>
        </p:txBody>
      </p:sp>
      <p:sp>
        <p:nvSpPr>
          <p:cNvPr id="29" name="p8-example">
            <a:extLst xmlns:a="http://schemas.openxmlformats.org/drawingml/2006/main">
              <a:ext uri="{FF2B5EF4-FFF2-40B4-BE49-F238E27FC236}">
                <a16:creationId xmlns:a16="http://schemas.microsoft.com/office/drawing/2014/main" id="{FD457DC2-2F8C-475C-9E03-F6C97F20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149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소득 대비 비율보다 실제 잔여 여력이 더 빠듯해 잔여 여력 기준으로 상한을 86만원으로 확정했습니다.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소득 대비 주거비 여력이 안정적인 구간입니다.</a:t>
            </a:r>
          </a:p>
        </p:txBody>
      </p:sp>
    </p:spTree>
    <p:extLst>
      <p:ext uri="{BB962C8B-B14F-4D97-AF65-F5344CB8AC3E}">
        <p14:creationId xmlns:p14="http://schemas.microsoft.com/office/powerpoint/2010/main" val="8417097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2B77EDEE-0A8F-43FE-92E2-56F6C469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2" name="slide-9-head-rule">
            <a:extLst xmlns:a="http://schemas.openxmlformats.org/drawingml/2006/main">
              <a:ext uri="{FF2B5EF4-FFF2-40B4-BE49-F238E27FC236}">
                <a16:creationId xmlns:a16="http://schemas.microsoft.com/office/drawing/2014/main" id="{C92E43AB-FBDA-49B6-BEC8-FC879662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94BA8B5B-1517-4754-AAB0-F829C7B5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E2 정책 적격성 룰엔진</a:t>
            </a:r>
          </a:p>
        </p:txBody>
      </p:sp>
      <p:sp>
        <p:nvSpPr>
          <p:cNvPr id="4" name="slide-9-subtitle">
            <a:extLst xmlns:a="http://schemas.openxmlformats.org/drawingml/2006/main">
              <a:ext uri="{FF2B5EF4-FFF2-40B4-BE49-F238E27FC236}">
                <a16:creationId xmlns:a16="http://schemas.microsoft.com/office/drawing/2014/main" id="{565B0571-C8E1-4A61-A2E6-4AF72A83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승인된 규칙을 조건별로 평가하고 적격 여부와 사유를 같은 순서로 반환합니다</a:t>
            </a:r>
          </a:p>
        </p:txBody>
      </p:sp>
      <p:sp>
        <p:nvSpPr>
          <p:cNvPr id="5" name="slide-9-footer-rule">
            <a:extLst xmlns:a="http://schemas.openxmlformats.org/drawingml/2006/main">
              <a:ext uri="{FF2B5EF4-FFF2-40B4-BE49-F238E27FC236}">
                <a16:creationId xmlns:a16="http://schemas.microsoft.com/office/drawing/2014/main" id="{E5D7EDD8-8C7A-4A05-860C-FB618711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9-footer-left">
            <a:extLst xmlns:a="http://schemas.openxmlformats.org/drawingml/2006/main">
              <a:ext uri="{FF2B5EF4-FFF2-40B4-BE49-F238E27FC236}">
                <a16:creationId xmlns:a16="http://schemas.microsoft.com/office/drawing/2014/main" id="{83BDE792-6B28-4B37-ABA8-D6CC8689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9-footer-right">
            <a:extLst xmlns:a="http://schemas.openxmlformats.org/drawingml/2006/main">
              <a:ext uri="{FF2B5EF4-FFF2-40B4-BE49-F238E27FC236}">
                <a16:creationId xmlns:a16="http://schemas.microsoft.com/office/drawing/2014/main" id="{2C412344-8609-4438-A4DC-D5C99351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09 / 19</a:t>
            </a:r>
          </a:p>
        </p:txBody>
      </p:sp>
      <p:sp>
        <p:nvSpPr>
          <p:cNvPr id="8" name="p9-engine-label">
            <a:extLst xmlns:a="http://schemas.openxmlformats.org/drawingml/2006/main">
              <a:ext uri="{FF2B5EF4-FFF2-40B4-BE49-F238E27FC236}">
                <a16:creationId xmlns:a16="http://schemas.microsoft.com/office/drawing/2014/main" id="{569DB8DB-FF42-4820-8010-C9EE5A72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판정 엔진 2 / 4</a:t>
            </a:r>
          </a:p>
        </p:txBody>
      </p:sp>
      <p:sp>
        <p:nvSpPr>
          <p:cNvPr id="9" name="p9-col-a">
            <a:extLst xmlns:a="http://schemas.openxmlformats.org/drawingml/2006/main">
              <a:ext uri="{FF2B5EF4-FFF2-40B4-BE49-F238E27FC236}">
                <a16:creationId xmlns:a16="http://schemas.microsoft.com/office/drawing/2014/main" id="{6B19994A-890D-4D9F-B8EE-823F631B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0" name="p9-col-b">
            <a:extLst xmlns:a="http://schemas.openxmlformats.org/drawingml/2006/main">
              <a:ext uri="{FF2B5EF4-FFF2-40B4-BE49-F238E27FC236}">
                <a16:creationId xmlns:a16="http://schemas.microsoft.com/office/drawing/2014/main" id="{172A4AF7-07DE-4068-9522-FCB09DB3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1" name="p9-input-accent">
            <a:extLst xmlns:a="http://schemas.openxmlformats.org/drawingml/2006/main">
              <a:ext uri="{FF2B5EF4-FFF2-40B4-BE49-F238E27FC236}">
                <a16:creationId xmlns:a16="http://schemas.microsoft.com/office/drawing/2014/main" id="{4BE23F5F-8378-4C4A-B0E7-311C1EA3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12" name="p9-input-title">
            <a:extLst xmlns:a="http://schemas.openxmlformats.org/drawingml/2006/main">
              <a:ext uri="{FF2B5EF4-FFF2-40B4-BE49-F238E27FC236}">
                <a16:creationId xmlns:a16="http://schemas.microsoft.com/office/drawing/2014/main" id="{5B8EC48C-FF27-443E-A95E-D6825734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3" name="p9-input-copy">
            <a:extLst xmlns:a="http://schemas.openxmlformats.org/drawingml/2006/main">
              <a:ext uri="{FF2B5EF4-FFF2-40B4-BE49-F238E27FC236}">
                <a16:creationId xmlns:a16="http://schemas.microsoft.com/office/drawing/2014/main" id="{5D78AD4A-4B9B-4C4F-A7CF-11ED9220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526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나이와 연소득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보유 자산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무주택 여부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희망 지역 코드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신혼 및 재직 조건</a:t>
            </a:r>
          </a:p>
        </p:txBody>
      </p:sp>
      <p:sp>
        <p:nvSpPr>
          <p:cNvPr id="14" name="p9-logic-accent">
            <a:extLst xmlns:a="http://schemas.openxmlformats.org/drawingml/2006/main">
              <a:ext uri="{FF2B5EF4-FFF2-40B4-BE49-F238E27FC236}">
                <a16:creationId xmlns:a16="http://schemas.microsoft.com/office/drawing/2014/main" id="{74CC5DC0-42D0-422C-AD71-5907BA1A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6B57"/>
            </a:solidFill>
            <a:prstDash val="solid"/>
          </a:ln>
        </p:spPr>
      </p:sp>
      <p:sp>
        <p:nvSpPr>
          <p:cNvPr id="15" name="p9-logic-title">
            <a:extLst xmlns:a="http://schemas.openxmlformats.org/drawingml/2006/main">
              <a:ext uri="{FF2B5EF4-FFF2-40B4-BE49-F238E27FC236}">
                <a16:creationId xmlns:a16="http://schemas.microsoft.com/office/drawing/2014/main" id="{79D826EB-74FC-4EF6-9E4E-7E83AAEB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0500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계산 규칙</a:t>
            </a:r>
          </a:p>
        </p:txBody>
      </p:sp>
      <p:sp>
        <p:nvSpPr>
          <p:cNvPr id="16" name="p9-logic-num-0">
            <a:extLst xmlns:a="http://schemas.openxmlformats.org/drawingml/2006/main">
              <a:ext uri="{FF2B5EF4-FFF2-40B4-BE49-F238E27FC236}">
                <a16:creationId xmlns:a16="http://schemas.microsoft.com/office/drawing/2014/main" id="{5354D4F7-B19A-4010-BFCE-10508363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479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p9-logic-copy-0">
            <a:extLst xmlns:a="http://schemas.openxmlformats.org/drawingml/2006/main">
              <a:ext uri="{FF2B5EF4-FFF2-40B4-BE49-F238E27FC236}">
                <a16:creationId xmlns:a16="http://schemas.microsoft.com/office/drawing/2014/main" id="{951D02FC-CE00-41BA-8D31-45110C35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383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저장소에서 승인된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RuleVersion만 불러옴</a:t>
            </a:r>
          </a:p>
        </p:txBody>
      </p:sp>
      <p:sp>
        <p:nvSpPr>
          <p:cNvPr id="18" name="p9-logic-num-1">
            <a:extLst xmlns:a="http://schemas.openxmlformats.org/drawingml/2006/main">
              <a:ext uri="{FF2B5EF4-FFF2-40B4-BE49-F238E27FC236}">
                <a16:creationId xmlns:a16="http://schemas.microsoft.com/office/drawing/2014/main" id="{BD515143-AB19-4ED9-A626-09B49DDC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384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p9-logic-copy-1">
            <a:extLst xmlns:a="http://schemas.openxmlformats.org/drawingml/2006/main">
              <a:ext uri="{FF2B5EF4-FFF2-40B4-BE49-F238E27FC236}">
                <a16:creationId xmlns:a16="http://schemas.microsoft.com/office/drawing/2014/main" id="{5604FBAF-C580-4C31-9920-5FAE98EE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289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연령, 소득, 자산, 무주택, 지역, 재직,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혼인 요건을 순차 평가</a:t>
            </a:r>
          </a:p>
        </p:txBody>
      </p:sp>
      <p:sp>
        <p:nvSpPr>
          <p:cNvPr id="20" name="p9-logic-num-2">
            <a:extLst xmlns:a="http://schemas.openxmlformats.org/drawingml/2006/main">
              <a:ext uri="{FF2B5EF4-FFF2-40B4-BE49-F238E27FC236}">
                <a16:creationId xmlns:a16="http://schemas.microsoft.com/office/drawing/2014/main" id="{77D9CB20-6D66-4CBF-9FB6-9E8809AA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p9-logic-copy-2">
            <a:extLst xmlns:a="http://schemas.openxmlformats.org/drawingml/2006/main">
              <a:ext uri="{FF2B5EF4-FFF2-40B4-BE49-F238E27FC236}">
                <a16:creationId xmlns:a16="http://schemas.microsoft.com/office/drawing/2014/main" id="{94AA3737-647A-45B8-98D5-8563FAAF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4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모두 충족: eligible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추가 확인 필요: conditional</a:t>
            </a:r>
          </a:p>
        </p:txBody>
      </p:sp>
      <p:sp>
        <p:nvSpPr>
          <p:cNvPr id="22" name="p9-logic-num-3">
            <a:extLst xmlns:a="http://schemas.openxmlformats.org/drawingml/2006/main">
              <a:ext uri="{FF2B5EF4-FFF2-40B4-BE49-F238E27FC236}">
                <a16:creationId xmlns:a16="http://schemas.microsoft.com/office/drawing/2014/main" id="{FD8FB8D0-7F5E-4313-814F-62AB7857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195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p9-logic-copy-3">
            <a:extLst xmlns:a="http://schemas.openxmlformats.org/drawingml/2006/main">
              <a:ext uri="{FF2B5EF4-FFF2-40B4-BE49-F238E27FC236}">
                <a16:creationId xmlns:a16="http://schemas.microsoft.com/office/drawing/2014/main" id="{5CDB7438-EA38-4C0D-8606-73605ACF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100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명확한 미충족: ineligible</a:t>
            </a:r>
          </a:p>
        </p:txBody>
      </p:sp>
      <p:sp>
        <p:nvSpPr>
          <p:cNvPr id="24" name="p9-output-accent">
            <a:extLst xmlns:a="http://schemas.openxmlformats.org/drawingml/2006/main">
              <a:ext uri="{FF2B5EF4-FFF2-40B4-BE49-F238E27FC236}">
                <a16:creationId xmlns:a16="http://schemas.microsoft.com/office/drawing/2014/main" id="{A2D9940D-384B-41E1-B195-210FB36B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5" name="p9-output-title">
            <a:extLst xmlns:a="http://schemas.openxmlformats.org/drawingml/2006/main">
              <a:ext uri="{FF2B5EF4-FFF2-40B4-BE49-F238E27FC236}">
                <a16:creationId xmlns:a16="http://schemas.microsoft.com/office/drawing/2014/main" id="{B19B72EE-2E2B-44DF-BE74-64A03D3C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6" name="p9-output-copy">
            <a:extLst xmlns:a="http://schemas.openxmlformats.org/drawingml/2006/main">
              <a:ext uri="{FF2B5EF4-FFF2-40B4-BE49-F238E27FC236}">
                <a16:creationId xmlns:a16="http://schemas.microsoft.com/office/drawing/2014/main" id="{199296D4-491B-4DA0-B3FC-09EC5547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9718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reasons[]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maxAmountKRW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rateRangePct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disclaimer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판정과 사유는 1:1로 대응</a:t>
            </a:r>
          </a:p>
        </p:txBody>
      </p:sp>
      <p:sp>
        <p:nvSpPr>
          <p:cNvPr id="27" name="p9-example-bg">
            <a:extLst xmlns:a="http://schemas.openxmlformats.org/drawingml/2006/main">
              <a:ext uri="{FF2B5EF4-FFF2-40B4-BE49-F238E27FC236}">
                <a16:creationId xmlns:a16="http://schemas.microsoft.com/office/drawing/2014/main" id="{54CECD3D-2BAD-4E60-B6A2-3A6D20BF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9-example-label">
            <a:extLst xmlns:a="http://schemas.openxmlformats.org/drawingml/2006/main">
              <a:ext uri="{FF2B5EF4-FFF2-40B4-BE49-F238E27FC236}">
                <a16:creationId xmlns:a16="http://schemas.microsoft.com/office/drawing/2014/main" id="{68684567-B627-48D9-9047-C0D836B4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0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엔진 반환 예시</a:t>
            </a:r>
          </a:p>
        </p:txBody>
      </p:sp>
      <p:sp>
        <p:nvSpPr>
          <p:cNvPr id="29" name="p9-example">
            <a:extLst xmlns:a="http://schemas.openxmlformats.org/drawingml/2006/main">
              <a:ext uri="{FF2B5EF4-FFF2-40B4-BE49-F238E27FC236}">
                <a16:creationId xmlns:a16="http://schemas.microsoft.com/office/drawing/2014/main" id="{D9714453-ABC8-4415-8325-F6D865FB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149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만 19~34세 요건 충족(28세), 연소득 5,000만원 이하 충족(4,200만원).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주택 유형, 전세가율, 선순위 채권 규모에 따라 보증 가입이 제한될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25953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B4FFE93A-D2CC-4126-8B08-0D7ECD1B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2" name="slide-10-head-rule">
            <a:extLst xmlns:a="http://schemas.openxmlformats.org/drawingml/2006/main">
              <a:ext uri="{FF2B5EF4-FFF2-40B4-BE49-F238E27FC236}">
                <a16:creationId xmlns:a16="http://schemas.microsoft.com/office/drawing/2014/main" id="{9B11202F-DC5B-48E8-A807-0244CF24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B241BB12-4F31-4296-A1D3-4F081840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E3 전월세 총비용 비교 엔진</a:t>
            </a:r>
          </a:p>
        </p:txBody>
      </p:sp>
      <p:sp>
        <p:nvSpPr>
          <p:cNvPr id="4" name="slide-10-subtitle">
            <a:extLst xmlns:a="http://schemas.openxmlformats.org/drawingml/2006/main">
              <a:ext uri="{FF2B5EF4-FFF2-40B4-BE49-F238E27FC236}">
                <a16:creationId xmlns:a16="http://schemas.microsoft.com/office/drawing/2014/main" id="{9FEC70CB-7880-4C69-A828-E8F7E34B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월 납입액 대신 5년 총비용과 현재가치로 전세, 반전세, 월세를 비교합니다</a:t>
            </a:r>
          </a:p>
        </p:txBody>
      </p:sp>
      <p:sp>
        <p:nvSpPr>
          <p:cNvPr id="5" name="slide-10-footer-rule">
            <a:extLst xmlns:a="http://schemas.openxmlformats.org/drawingml/2006/main">
              <a:ext uri="{FF2B5EF4-FFF2-40B4-BE49-F238E27FC236}">
                <a16:creationId xmlns:a16="http://schemas.microsoft.com/office/drawing/2014/main" id="{CC44E4CD-16D7-41A3-847A-89CE7527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0-footer-left">
            <a:extLst xmlns:a="http://schemas.openxmlformats.org/drawingml/2006/main">
              <a:ext uri="{FF2B5EF4-FFF2-40B4-BE49-F238E27FC236}">
                <a16:creationId xmlns:a16="http://schemas.microsoft.com/office/drawing/2014/main" id="{702FA99E-9D84-422B-BE76-36BB6C62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0-footer-right">
            <a:extLst xmlns:a="http://schemas.openxmlformats.org/drawingml/2006/main">
              <a:ext uri="{FF2B5EF4-FFF2-40B4-BE49-F238E27FC236}">
                <a16:creationId xmlns:a16="http://schemas.microsoft.com/office/drawing/2014/main" id="{8B8ED30A-83D1-4180-A828-60BA051B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10 / 19</a:t>
            </a:r>
          </a:p>
        </p:txBody>
      </p:sp>
      <p:sp>
        <p:nvSpPr>
          <p:cNvPr id="8" name="p10-engine-label">
            <a:extLst xmlns:a="http://schemas.openxmlformats.org/drawingml/2006/main">
              <a:ext uri="{FF2B5EF4-FFF2-40B4-BE49-F238E27FC236}">
                <a16:creationId xmlns:a16="http://schemas.microsoft.com/office/drawing/2014/main" id="{7F9E3DD8-FD6C-4F3C-88ED-16B5FA1C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판정 엔진 3 / 4</a:t>
            </a:r>
          </a:p>
        </p:txBody>
      </p:sp>
      <p:sp>
        <p:nvSpPr>
          <p:cNvPr id="9" name="p10-col-a">
            <a:extLst xmlns:a="http://schemas.openxmlformats.org/drawingml/2006/main">
              <a:ext uri="{FF2B5EF4-FFF2-40B4-BE49-F238E27FC236}">
                <a16:creationId xmlns:a16="http://schemas.microsoft.com/office/drawing/2014/main" id="{4063CCAF-6879-4CF1-A067-599E6BAB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0" name="p10-col-b">
            <a:extLst xmlns:a="http://schemas.openxmlformats.org/drawingml/2006/main">
              <a:ext uri="{FF2B5EF4-FFF2-40B4-BE49-F238E27FC236}">
                <a16:creationId xmlns:a16="http://schemas.microsoft.com/office/drawing/2014/main" id="{5E6A3C35-2F84-41AA-BB16-ECADD97F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1" name="p10-input-accent">
            <a:extLst xmlns:a="http://schemas.openxmlformats.org/drawingml/2006/main">
              <a:ext uri="{FF2B5EF4-FFF2-40B4-BE49-F238E27FC236}">
                <a16:creationId xmlns:a16="http://schemas.microsoft.com/office/drawing/2014/main" id="{B86B82D2-46A1-4FF9-9601-9151ED87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12" name="p10-input-title">
            <a:extLst xmlns:a="http://schemas.openxmlformats.org/drawingml/2006/main">
              <a:ext uri="{FF2B5EF4-FFF2-40B4-BE49-F238E27FC236}">
                <a16:creationId xmlns:a16="http://schemas.microsoft.com/office/drawing/2014/main" id="{AB331BFF-21B9-4C16-943C-94A350EA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3" name="p10-input-copy">
            <a:extLst xmlns:a="http://schemas.openxmlformats.org/drawingml/2006/main">
              <a:ext uri="{FF2B5EF4-FFF2-40B4-BE49-F238E27FC236}">
                <a16:creationId xmlns:a16="http://schemas.microsoft.com/office/drawing/2014/main" id="{651F0CDA-C349-4451-9BE3-C59FF5AB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526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보증금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월세와 관리비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대출 금액과 금리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보유 자산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비교 기간 5년</a:t>
            </a:r>
          </a:p>
        </p:txBody>
      </p:sp>
      <p:sp>
        <p:nvSpPr>
          <p:cNvPr id="14" name="p10-logic-accent">
            <a:extLst xmlns:a="http://schemas.openxmlformats.org/drawingml/2006/main">
              <a:ext uri="{FF2B5EF4-FFF2-40B4-BE49-F238E27FC236}">
                <a16:creationId xmlns:a16="http://schemas.microsoft.com/office/drawing/2014/main" id="{B0D9CD39-6F1D-4F52-A06D-04F9F762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A64"/>
            </a:solidFill>
            <a:prstDash val="solid"/>
          </a:ln>
        </p:spPr>
      </p:sp>
      <p:sp>
        <p:nvSpPr>
          <p:cNvPr id="15" name="p10-logic-title">
            <a:extLst xmlns:a="http://schemas.openxmlformats.org/drawingml/2006/main">
              <a:ext uri="{FF2B5EF4-FFF2-40B4-BE49-F238E27FC236}">
                <a16:creationId xmlns:a16="http://schemas.microsoft.com/office/drawing/2014/main" id="{38B6CB12-6B82-4820-A2AB-8CE902A6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0500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계산 규칙</a:t>
            </a:r>
          </a:p>
        </p:txBody>
      </p:sp>
      <p:sp>
        <p:nvSpPr>
          <p:cNvPr id="16" name="p10-logic-num-0">
            <a:extLst xmlns:a="http://schemas.openxmlformats.org/drawingml/2006/main">
              <a:ext uri="{FF2B5EF4-FFF2-40B4-BE49-F238E27FC236}">
                <a16:creationId xmlns:a16="http://schemas.microsoft.com/office/drawing/2014/main" id="{7CBC1E78-E7F7-428D-A6D6-4B94492B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479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p10-logic-copy-0">
            <a:extLst xmlns:a="http://schemas.openxmlformats.org/drawingml/2006/main">
              <a:ext uri="{FF2B5EF4-FFF2-40B4-BE49-F238E27FC236}">
                <a16:creationId xmlns:a16="http://schemas.microsoft.com/office/drawing/2014/main" id="{93D72422-F480-459B-B978-07566CEF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383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월세, 관리비, 대출이자, 보증료를 월 단위로 전개</a:t>
            </a:r>
          </a:p>
        </p:txBody>
      </p:sp>
      <p:sp>
        <p:nvSpPr>
          <p:cNvPr id="18" name="p10-logic-num-1">
            <a:extLst xmlns:a="http://schemas.openxmlformats.org/drawingml/2006/main">
              <a:ext uri="{FF2B5EF4-FFF2-40B4-BE49-F238E27FC236}">
                <a16:creationId xmlns:a16="http://schemas.microsoft.com/office/drawing/2014/main" id="{1577FBF8-08C7-4BFD-BC6B-1369DEA6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384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p10-logic-copy-1">
            <a:extLst xmlns:a="http://schemas.openxmlformats.org/drawingml/2006/main">
              <a:ext uri="{FF2B5EF4-FFF2-40B4-BE49-F238E27FC236}">
                <a16:creationId xmlns:a16="http://schemas.microsoft.com/office/drawing/2014/main" id="{22A89A89-D796-42C0-AA33-859AB945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289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보증금에 묶이는 자기자본의 기회비용을 더함</a:t>
            </a:r>
          </a:p>
        </p:txBody>
      </p:sp>
      <p:sp>
        <p:nvSpPr>
          <p:cNvPr id="20" name="p10-logic-num-2">
            <a:extLst xmlns:a="http://schemas.openxmlformats.org/drawingml/2006/main">
              <a:ext uri="{FF2B5EF4-FFF2-40B4-BE49-F238E27FC236}">
                <a16:creationId xmlns:a16="http://schemas.microsoft.com/office/drawing/2014/main" id="{14586B8A-8B67-4D3C-B3A1-DDA1611C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p10-logic-copy-2">
            <a:extLst xmlns:a="http://schemas.openxmlformats.org/drawingml/2006/main">
              <a:ext uri="{FF2B5EF4-FFF2-40B4-BE49-F238E27FC236}">
                <a16:creationId xmlns:a16="http://schemas.microsoft.com/office/drawing/2014/main" id="{EB0AC59A-BB52-4195-BCF7-100706AB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4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5년 총비용(TCO)과 할인한 현재가치(NPV) 계산</a:t>
            </a:r>
          </a:p>
        </p:txBody>
      </p:sp>
      <p:sp>
        <p:nvSpPr>
          <p:cNvPr id="22" name="p10-logic-num-3">
            <a:extLst xmlns:a="http://schemas.openxmlformats.org/drawingml/2006/main">
              <a:ext uri="{FF2B5EF4-FFF2-40B4-BE49-F238E27FC236}">
                <a16:creationId xmlns:a16="http://schemas.microsoft.com/office/drawing/2014/main" id="{755DEC5A-BEB5-4370-A73A-E70F904B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195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p10-logic-copy-3">
            <a:extLst xmlns:a="http://schemas.openxmlformats.org/drawingml/2006/main">
              <a:ext uri="{FF2B5EF4-FFF2-40B4-BE49-F238E27FC236}">
                <a16:creationId xmlns:a16="http://schemas.microsoft.com/office/drawing/2014/main" id="{5A8E4F04-D5D1-4DF7-8136-A3B071F5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100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E1 상한과 비교해 적합도 점수와 verdict 산출</a:t>
            </a:r>
          </a:p>
        </p:txBody>
      </p:sp>
      <p:sp>
        <p:nvSpPr>
          <p:cNvPr id="24" name="p10-output-accent">
            <a:extLst xmlns:a="http://schemas.openxmlformats.org/drawingml/2006/main">
              <a:ext uri="{FF2B5EF4-FFF2-40B4-BE49-F238E27FC236}">
                <a16:creationId xmlns:a16="http://schemas.microsoft.com/office/drawing/2014/main" id="{36AEB767-0DF0-4600-8FDA-6BEEFEF8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5" name="p10-output-title">
            <a:extLst xmlns:a="http://schemas.openxmlformats.org/drawingml/2006/main">
              <a:ext uri="{FF2B5EF4-FFF2-40B4-BE49-F238E27FC236}">
                <a16:creationId xmlns:a16="http://schemas.microsoft.com/office/drawing/2014/main" id="{108088E5-6C37-4806-82DB-34997CC1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6" name="p10-output-copy">
            <a:extLst xmlns:a="http://schemas.openxmlformats.org/drawingml/2006/main">
              <a:ext uri="{FF2B5EF4-FFF2-40B4-BE49-F238E27FC236}">
                <a16:creationId xmlns:a16="http://schemas.microsoft.com/office/drawing/2014/main" id="{143A14E9-D1DA-4542-ADD6-61BF5C76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9718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monthlyEquivalentCostKRW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tco5yKRW / npv5yKRW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components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fitScore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verdict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rationale[]</a:t>
            </a:r>
          </a:p>
        </p:txBody>
      </p:sp>
      <p:sp>
        <p:nvSpPr>
          <p:cNvPr id="27" name="p10-example-bg">
            <a:extLst xmlns:a="http://schemas.openxmlformats.org/drawingml/2006/main">
              <a:ext uri="{FF2B5EF4-FFF2-40B4-BE49-F238E27FC236}">
                <a16:creationId xmlns:a16="http://schemas.microsoft.com/office/drawing/2014/main" id="{32D534E3-0C7F-4B5F-8A3E-94277860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0-example-label">
            <a:extLst xmlns:a="http://schemas.openxmlformats.org/drawingml/2006/main">
              <a:ext uri="{FF2B5EF4-FFF2-40B4-BE49-F238E27FC236}">
                <a16:creationId xmlns:a16="http://schemas.microsoft.com/office/drawing/2014/main" id="{2DE74DD7-5C9E-4BE2-927C-30DAE6D9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0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엔진 반환 예시</a:t>
            </a:r>
          </a:p>
        </p:txBody>
      </p:sp>
      <p:sp>
        <p:nvSpPr>
          <p:cNvPr id="29" name="p10-example">
            <a:extLst xmlns:a="http://schemas.openxmlformats.org/drawingml/2006/main">
              <a:ext uri="{FF2B5EF4-FFF2-40B4-BE49-F238E27FC236}">
                <a16:creationId xmlns:a16="http://schemas.microsoft.com/office/drawing/2014/main" id="{9B62384C-01CC-4DD0-B0F5-B0948E4A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149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보증금에 묶이는 자기자본 5,500만원의 기회비용을 연 3.3%로 계산해 897만원을 총비용에 포함했습니다. 보증금 원금은 계약 종료 시 반환되므로 비용에서 제외합니다.</a:t>
            </a:r>
          </a:p>
        </p:txBody>
      </p:sp>
    </p:spTree>
    <p:extLst>
      <p:ext uri="{BB962C8B-B14F-4D97-AF65-F5344CB8AC3E}">
        <p14:creationId xmlns:p14="http://schemas.microsoft.com/office/powerpoint/2010/main" val="12443759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E04E454D-AD55-45B5-9764-615A84C3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2" name="slide-11-head-rule">
            <a:extLst xmlns:a="http://schemas.openxmlformats.org/drawingml/2006/main">
              <a:ext uri="{FF2B5EF4-FFF2-40B4-BE49-F238E27FC236}">
                <a16:creationId xmlns:a16="http://schemas.microsoft.com/office/drawing/2014/main" id="{535B4E3E-9D3A-4C1C-8A37-DE4B05A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4D56ACEC-EC23-4181-8647-88AA998C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E4 전세보증금 리스크 스캐너</a:t>
            </a:r>
          </a:p>
        </p:txBody>
      </p:sp>
      <p:sp>
        <p:nvSpPr>
          <p:cNvPr id="4" name="slide-11-subtitle">
            <a:extLst xmlns:a="http://schemas.openxmlformats.org/drawingml/2006/main">
              <a:ext uri="{FF2B5EF4-FFF2-40B4-BE49-F238E27FC236}">
                <a16:creationId xmlns:a16="http://schemas.microsoft.com/office/drawing/2014/main" id="{326BBA49-AC46-4EFC-B821-488F1FA6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계약 전에 확인할 위험 신호를 0~100점으로 합산하고 점검 순서를 제시합니다</a:t>
            </a:r>
          </a:p>
        </p:txBody>
      </p:sp>
      <p:sp>
        <p:nvSpPr>
          <p:cNvPr id="5" name="slide-11-footer-rule">
            <a:extLst xmlns:a="http://schemas.openxmlformats.org/drawingml/2006/main">
              <a:ext uri="{FF2B5EF4-FFF2-40B4-BE49-F238E27FC236}">
                <a16:creationId xmlns:a16="http://schemas.microsoft.com/office/drawing/2014/main" id="{4CC15C34-3922-4935-9693-0AE95952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1-footer-left">
            <a:extLst xmlns:a="http://schemas.openxmlformats.org/drawingml/2006/main">
              <a:ext uri="{FF2B5EF4-FFF2-40B4-BE49-F238E27FC236}">
                <a16:creationId xmlns:a16="http://schemas.microsoft.com/office/drawing/2014/main" id="{AF8C5606-C9E3-4265-907D-3ACBDDBF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1-footer-right">
            <a:extLst xmlns:a="http://schemas.openxmlformats.org/drawingml/2006/main">
              <a:ext uri="{FF2B5EF4-FFF2-40B4-BE49-F238E27FC236}">
                <a16:creationId xmlns:a16="http://schemas.microsoft.com/office/drawing/2014/main" id="{8AC23A4B-3076-4168-9F97-6C506472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11 / 19</a:t>
            </a:r>
          </a:p>
        </p:txBody>
      </p:sp>
      <p:sp>
        <p:nvSpPr>
          <p:cNvPr id="8" name="p11-engine-label">
            <a:extLst xmlns:a="http://schemas.openxmlformats.org/drawingml/2006/main">
              <a:ext uri="{FF2B5EF4-FFF2-40B4-BE49-F238E27FC236}">
                <a16:creationId xmlns:a16="http://schemas.microsoft.com/office/drawing/2014/main" id="{FB6A9666-A2C0-493E-BEAB-C8716D9E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판정 엔진 4 / 4</a:t>
            </a:r>
          </a:p>
        </p:txBody>
      </p:sp>
      <p:sp>
        <p:nvSpPr>
          <p:cNvPr id="9" name="p11-col-a">
            <a:extLst xmlns:a="http://schemas.openxmlformats.org/drawingml/2006/main">
              <a:ext uri="{FF2B5EF4-FFF2-40B4-BE49-F238E27FC236}">
                <a16:creationId xmlns:a16="http://schemas.microsoft.com/office/drawing/2014/main" id="{D6AADF26-FD2F-4983-8A43-167602B2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0" name="p11-col-b">
            <a:extLst xmlns:a="http://schemas.openxmlformats.org/drawingml/2006/main">
              <a:ext uri="{FF2B5EF4-FFF2-40B4-BE49-F238E27FC236}">
                <a16:creationId xmlns:a16="http://schemas.microsoft.com/office/drawing/2014/main" id="{143A6139-0EB6-4F50-B174-8586FB0B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764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1" name="p11-input-accent">
            <a:extLst xmlns:a="http://schemas.openxmlformats.org/drawingml/2006/main">
              <a:ext uri="{FF2B5EF4-FFF2-40B4-BE49-F238E27FC236}">
                <a16:creationId xmlns:a16="http://schemas.microsoft.com/office/drawing/2014/main" id="{5611CEA8-0305-43CF-9210-0B418A46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12" name="p11-input-title">
            <a:extLst xmlns:a="http://schemas.openxmlformats.org/drawingml/2006/main">
              <a:ext uri="{FF2B5EF4-FFF2-40B4-BE49-F238E27FC236}">
                <a16:creationId xmlns:a16="http://schemas.microsoft.com/office/drawing/2014/main" id="{1261B12C-4A0B-4104-9361-A09DF680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3" name="p11-input-copy">
            <a:extLst xmlns:a="http://schemas.openxmlformats.org/drawingml/2006/main">
              <a:ext uri="{FF2B5EF4-FFF2-40B4-BE49-F238E27FC236}">
                <a16:creationId xmlns:a16="http://schemas.microsoft.com/office/drawing/2014/main" id="{4FAF8AB0-5495-4789-94DC-F1DD007C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526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보증금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전세가율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보증금 내 대출 비중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보증 가입 가능 여부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지역 시장 위험도</a:t>
            </a:r>
          </a:p>
        </p:txBody>
      </p:sp>
      <p:sp>
        <p:nvSpPr>
          <p:cNvPr id="14" name="p11-logic-accent">
            <a:extLst xmlns:a="http://schemas.openxmlformats.org/drawingml/2006/main">
              <a:ext uri="{FF2B5EF4-FFF2-40B4-BE49-F238E27FC236}">
                <a16:creationId xmlns:a16="http://schemas.microsoft.com/office/drawing/2014/main" id="{C3398BAB-22A8-4457-8A18-5E5D5B99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3483C"/>
            </a:solidFill>
            <a:prstDash val="solid"/>
          </a:ln>
        </p:spPr>
      </p:sp>
      <p:sp>
        <p:nvSpPr>
          <p:cNvPr id="15" name="p11-logic-title">
            <a:extLst xmlns:a="http://schemas.openxmlformats.org/drawingml/2006/main">
              <a:ext uri="{FF2B5EF4-FFF2-40B4-BE49-F238E27FC236}">
                <a16:creationId xmlns:a16="http://schemas.microsoft.com/office/drawing/2014/main" id="{FDE8EED5-CD47-4141-9069-4E09FB9A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0500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계산 규칙</a:t>
            </a:r>
          </a:p>
        </p:txBody>
      </p:sp>
      <p:sp>
        <p:nvSpPr>
          <p:cNvPr id="16" name="p11-logic-num-0">
            <a:extLst xmlns:a="http://schemas.openxmlformats.org/drawingml/2006/main">
              <a:ext uri="{FF2B5EF4-FFF2-40B4-BE49-F238E27FC236}">
                <a16:creationId xmlns:a16="http://schemas.microsoft.com/office/drawing/2014/main" id="{27109BDE-804B-483B-8CD2-DB892139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479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p11-logic-copy-0">
            <a:extLst xmlns:a="http://schemas.openxmlformats.org/drawingml/2006/main">
              <a:ext uri="{FF2B5EF4-FFF2-40B4-BE49-F238E27FC236}">
                <a16:creationId xmlns:a16="http://schemas.microsoft.com/office/drawing/2014/main" id="{B336858D-186E-4592-88E4-BF22E572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383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위험 요인 값을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공통 범위로 정규화</a:t>
            </a:r>
          </a:p>
        </p:txBody>
      </p:sp>
      <p:sp>
        <p:nvSpPr>
          <p:cNvPr id="18" name="p11-logic-num-1">
            <a:extLst xmlns:a="http://schemas.openxmlformats.org/drawingml/2006/main">
              <a:ext uri="{FF2B5EF4-FFF2-40B4-BE49-F238E27FC236}">
                <a16:creationId xmlns:a16="http://schemas.microsoft.com/office/drawing/2014/main" id="{EDFD3410-DBB7-4CF4-9A60-42660E99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384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p11-logic-copy-1">
            <a:extLst xmlns:a="http://schemas.openxmlformats.org/drawingml/2006/main">
              <a:ext uri="{FF2B5EF4-FFF2-40B4-BE49-F238E27FC236}">
                <a16:creationId xmlns:a16="http://schemas.microsoft.com/office/drawing/2014/main" id="{CA393353-498F-4533-9ADC-2FA45CC9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289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요인별 가중치를 적용하고 합산</a:t>
            </a:r>
          </a:p>
        </p:txBody>
      </p:sp>
      <p:sp>
        <p:nvSpPr>
          <p:cNvPr id="20" name="p11-logic-num-2">
            <a:extLst xmlns:a="http://schemas.openxmlformats.org/drawingml/2006/main">
              <a:ext uri="{FF2B5EF4-FFF2-40B4-BE49-F238E27FC236}">
                <a16:creationId xmlns:a16="http://schemas.microsoft.com/office/drawing/2014/main" id="{70B8681F-955B-4582-959E-2B61C645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p11-logic-copy-2">
            <a:extLst xmlns:a="http://schemas.openxmlformats.org/drawingml/2006/main">
              <a:ext uri="{FF2B5EF4-FFF2-40B4-BE49-F238E27FC236}">
                <a16:creationId xmlns:a16="http://schemas.microsoft.com/office/drawing/2014/main" id="{7C4338A9-F6B3-4265-A6FB-853EE4CE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47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합산값을 0~100 점수로 변환</a:t>
            </a:r>
          </a:p>
        </p:txBody>
      </p:sp>
      <p:sp>
        <p:nvSpPr>
          <p:cNvPr id="22" name="p11-logic-num-3">
            <a:extLst xmlns:a="http://schemas.openxmlformats.org/drawingml/2006/main">
              <a:ext uri="{FF2B5EF4-FFF2-40B4-BE49-F238E27FC236}">
                <a16:creationId xmlns:a16="http://schemas.microsoft.com/office/drawing/2014/main" id="{DD5056C0-930F-44BA-9308-6ADB2ED7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1955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p11-logic-copy-3">
            <a:extLst xmlns:a="http://schemas.openxmlformats.org/drawingml/2006/main">
              <a:ext uri="{FF2B5EF4-FFF2-40B4-BE49-F238E27FC236}">
                <a16:creationId xmlns:a16="http://schemas.microsoft.com/office/drawing/2014/main" id="{694AE92A-6BFF-426D-B2C0-E30B0AC9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10025"/>
            <a:ext cx="3943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low 0–34 / medium 35–64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high 65–100</a:t>
            </a:r>
          </a:p>
        </p:txBody>
      </p:sp>
      <p:sp>
        <p:nvSpPr>
          <p:cNvPr id="24" name="p11-output-accent">
            <a:extLst xmlns:a="http://schemas.openxmlformats.org/drawingml/2006/main">
              <a:ext uri="{FF2B5EF4-FFF2-40B4-BE49-F238E27FC236}">
                <a16:creationId xmlns:a16="http://schemas.microsoft.com/office/drawing/2014/main" id="{85B4ADE5-D74F-4028-A2FF-A265D4FA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907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5" name="p11-output-title">
            <a:extLst xmlns:a="http://schemas.openxmlformats.org/drawingml/2006/main">
              <a:ext uri="{FF2B5EF4-FFF2-40B4-BE49-F238E27FC236}">
                <a16:creationId xmlns:a16="http://schemas.microsoft.com/office/drawing/2014/main" id="{40751EA3-7346-4724-921F-9972D81A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6" name="p11-output-copy">
            <a:extLst xmlns:a="http://schemas.openxmlformats.org/drawingml/2006/main">
              <a:ext uri="{FF2B5EF4-FFF2-40B4-BE49-F238E27FC236}">
                <a16:creationId xmlns:a16="http://schemas.microsoft.com/office/drawing/2014/main" id="{2244D71F-41AC-4584-848A-DBF7B5B5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9718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score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band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factors[].name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factors[].valuePct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factors[].impact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factors[].note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법적 안전을 보증하지 않는 참고 지표</a:t>
            </a:r>
          </a:p>
        </p:txBody>
      </p:sp>
      <p:sp>
        <p:nvSpPr>
          <p:cNvPr id="27" name="p11-example-bg">
            <a:extLst xmlns:a="http://schemas.openxmlformats.org/drawingml/2006/main">
              <a:ext uri="{FF2B5EF4-FFF2-40B4-BE49-F238E27FC236}">
                <a16:creationId xmlns:a16="http://schemas.microsoft.com/office/drawing/2014/main" id="{CF5B13C6-0C6B-49EB-938F-A31138F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4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1-example-label">
            <a:extLst xmlns:a="http://schemas.openxmlformats.org/drawingml/2006/main">
              <a:ext uri="{FF2B5EF4-FFF2-40B4-BE49-F238E27FC236}">
                <a16:creationId xmlns:a16="http://schemas.microsoft.com/office/drawing/2014/main" id="{153837A9-3FD8-4B50-BA5A-086F97A9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01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엔진 반환 예시</a:t>
            </a:r>
          </a:p>
        </p:txBody>
      </p:sp>
      <p:sp>
        <p:nvSpPr>
          <p:cNvPr id="29" name="p11-example">
            <a:extLst xmlns:a="http://schemas.openxmlformats.org/drawingml/2006/main">
              <a:ext uri="{FF2B5EF4-FFF2-40B4-BE49-F238E27FC236}">
                <a16:creationId xmlns:a16="http://schemas.microsoft.com/office/drawing/2014/main" id="{B6C79D90-E6A4-4BB5-B587-CB40B42A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149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서울 마포구 기준 보증금 2억 8,000만원의 위험 점수는 100점 만점에 32점(low)입니다.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가장 큰 위험 요인은 보증금 내 대출 비중입니다.</a:t>
            </a:r>
          </a:p>
        </p:txBody>
      </p:sp>
    </p:spTree>
    <p:extLst>
      <p:ext uri="{BB962C8B-B14F-4D97-AF65-F5344CB8AC3E}">
        <p14:creationId xmlns:p14="http://schemas.microsoft.com/office/powerpoint/2010/main" val="16326036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slide-12-number">
            <a:extLst xmlns:a="http://schemas.openxmlformats.org/drawingml/2006/main">
              <a:ext uri="{FF2B5EF4-FFF2-40B4-BE49-F238E27FC236}">
                <a16:creationId xmlns:a16="http://schemas.microsoft.com/office/drawing/2014/main" id="{8C5A8C83-F660-41AC-83E7-0579A3AC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2" name="slide-12-head-rule">
            <a:extLst xmlns:a="http://schemas.openxmlformats.org/drawingml/2006/main">
              <a:ext uri="{FF2B5EF4-FFF2-40B4-BE49-F238E27FC236}">
                <a16:creationId xmlns:a16="http://schemas.microsoft.com/office/drawing/2014/main" id="{2585DA47-60D9-4073-90C5-3FA40FB9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511402A1-5D38-47CD-889B-3B331019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LLM 사용 범위와 실패 처리</a:t>
            </a:r>
          </a:p>
        </p:txBody>
      </p:sp>
      <p:sp>
        <p:nvSpPr>
          <p:cNvPr id="4" name="slide-12-subtitle">
            <a:extLst xmlns:a="http://schemas.openxmlformats.org/drawingml/2006/main">
              <a:ext uri="{FF2B5EF4-FFF2-40B4-BE49-F238E27FC236}">
                <a16:creationId xmlns:a16="http://schemas.microsoft.com/office/drawing/2014/main" id="{5DCF5A2E-C1EF-41A4-9431-C1E2EF74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모델은 엔진을 호출하고 결과를 설명합니다. 계산 권한은 판정 엔진에만 있습니다</a:t>
            </a:r>
          </a:p>
        </p:txBody>
      </p:sp>
      <p:sp>
        <p:nvSpPr>
          <p:cNvPr id="5" name="slide-12-footer-rule">
            <a:extLst xmlns:a="http://schemas.openxmlformats.org/drawingml/2006/main">
              <a:ext uri="{FF2B5EF4-FFF2-40B4-BE49-F238E27FC236}">
                <a16:creationId xmlns:a16="http://schemas.microsoft.com/office/drawing/2014/main" id="{F7307C8F-F4A8-4CEF-8893-838A21C9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2-footer-left">
            <a:extLst xmlns:a="http://schemas.openxmlformats.org/drawingml/2006/main">
              <a:ext uri="{FF2B5EF4-FFF2-40B4-BE49-F238E27FC236}">
                <a16:creationId xmlns:a16="http://schemas.microsoft.com/office/drawing/2014/main" id="{1EAA1794-A72D-4D1B-A244-49EA99B5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2-footer-right">
            <a:extLst xmlns:a="http://schemas.openxmlformats.org/drawingml/2006/main">
              <a:ext uri="{FF2B5EF4-FFF2-40B4-BE49-F238E27FC236}">
                <a16:creationId xmlns:a16="http://schemas.microsoft.com/office/drawing/2014/main" id="{182DB196-7964-4699-9A24-6CAE10FA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12 / 19</a:t>
            </a:r>
          </a:p>
        </p:txBody>
      </p:sp>
      <p:sp>
        <p:nvSpPr>
          <p:cNvPr id="8" name="p12-top-num-0">
            <a:extLst xmlns:a="http://schemas.openxmlformats.org/drawingml/2006/main">
              <a:ext uri="{FF2B5EF4-FFF2-40B4-BE49-F238E27FC236}">
                <a16:creationId xmlns:a16="http://schemas.microsoft.com/office/drawing/2014/main" id="{6C193722-1FBB-43D7-9B6E-89B38C3D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12-top-head-0">
            <a:extLst xmlns:a="http://schemas.openxmlformats.org/drawingml/2006/main">
              <a:ext uri="{FF2B5EF4-FFF2-40B4-BE49-F238E27FC236}">
                <a16:creationId xmlns:a16="http://schemas.microsoft.com/office/drawing/2014/main" id="{52329F39-53C5-4EFA-920E-7B74EA3D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사용자 질문</a:t>
            </a:r>
          </a:p>
        </p:txBody>
      </p:sp>
      <p:sp>
        <p:nvSpPr>
          <p:cNvPr id="10" name="p12-top-copy-0">
            <a:extLst xmlns:a="http://schemas.openxmlformats.org/drawingml/2006/main">
              <a:ext uri="{FF2B5EF4-FFF2-40B4-BE49-F238E27FC236}">
                <a16:creationId xmlns:a16="http://schemas.microsoft.com/office/drawing/2014/main" id="{A996DD29-CED2-472B-8DC4-9F8F487C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</p:txBody>
      </p:sp>
      <p:sp>
        <p:nvSpPr>
          <p:cNvPr id="11" name="p12-top-sep-1">
            <a:extLst xmlns:a="http://schemas.openxmlformats.org/drawingml/2006/main">
              <a:ext uri="{FF2B5EF4-FFF2-40B4-BE49-F238E27FC236}">
                <a16:creationId xmlns:a16="http://schemas.microsoft.com/office/drawing/2014/main" id="{CF337356-D380-403D-A3E1-95D11286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524000"/>
            <a:ext cx="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2" name="p12-top-num-1">
            <a:extLst xmlns:a="http://schemas.openxmlformats.org/drawingml/2006/main">
              <a:ext uri="{FF2B5EF4-FFF2-40B4-BE49-F238E27FC236}">
                <a16:creationId xmlns:a16="http://schemas.microsoft.com/office/drawing/2014/main" id="{EF0E98DE-5AAE-4EA7-8F9D-C80BD7E1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5621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p12-top-head-1">
            <a:extLst xmlns:a="http://schemas.openxmlformats.org/drawingml/2006/main">
              <a:ext uri="{FF2B5EF4-FFF2-40B4-BE49-F238E27FC236}">
                <a16:creationId xmlns:a16="http://schemas.microsoft.com/office/drawing/2014/main" id="{AEBFB028-1611-4F37-AAF5-4FA4FCFC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924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프로바이더 선택</a:t>
            </a:r>
          </a:p>
        </p:txBody>
      </p:sp>
      <p:sp>
        <p:nvSpPr>
          <p:cNvPr id="14" name="p12-top-copy-1">
            <a:extLst xmlns:a="http://schemas.openxmlformats.org/drawingml/2006/main">
              <a:ext uri="{FF2B5EF4-FFF2-40B4-BE49-F238E27FC236}">
                <a16:creationId xmlns:a16="http://schemas.microsoft.com/office/drawing/2014/main" id="{47E9B0A8-8924-4F2B-9B51-77B5841A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28600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설정된 연결과 상태 확인</a:t>
            </a:r>
          </a:p>
        </p:txBody>
      </p:sp>
      <p:sp>
        <p:nvSpPr>
          <p:cNvPr id="15" name="p12-top-sep-2">
            <a:extLst xmlns:a="http://schemas.openxmlformats.org/drawingml/2006/main">
              <a:ext uri="{FF2B5EF4-FFF2-40B4-BE49-F238E27FC236}">
                <a16:creationId xmlns:a16="http://schemas.microsoft.com/office/drawing/2014/main" id="{411B831A-8808-44D9-92EC-66FAB13C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524000"/>
            <a:ext cx="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6" name="p12-top-num-2">
            <a:extLst xmlns:a="http://schemas.openxmlformats.org/drawingml/2006/main">
              <a:ext uri="{FF2B5EF4-FFF2-40B4-BE49-F238E27FC236}">
                <a16:creationId xmlns:a16="http://schemas.microsoft.com/office/drawing/2014/main" id="{60781ED0-DF57-4C3F-8065-57A5165A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621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p12-top-head-2">
            <a:extLst xmlns:a="http://schemas.openxmlformats.org/drawingml/2006/main">
              <a:ext uri="{FF2B5EF4-FFF2-40B4-BE49-F238E27FC236}">
                <a16:creationId xmlns:a16="http://schemas.microsoft.com/office/drawing/2014/main" id="{6DD14DAC-01D3-4677-AB73-87DDC929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24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8" name="p12-top-copy-2">
            <a:extLst xmlns:a="http://schemas.openxmlformats.org/drawingml/2006/main">
              <a:ext uri="{FF2B5EF4-FFF2-40B4-BE49-F238E27FC236}">
                <a16:creationId xmlns:a16="http://schemas.microsoft.com/office/drawing/2014/main" id="{1936A1BF-3CFC-479E-8F8A-3E141BC8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8600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E1~E4 함수 실행</a:t>
            </a:r>
          </a:p>
        </p:txBody>
      </p:sp>
      <p:sp>
        <p:nvSpPr>
          <p:cNvPr id="19" name="p12-top-sep-3">
            <a:extLst xmlns:a="http://schemas.openxmlformats.org/drawingml/2006/main">
              <a:ext uri="{FF2B5EF4-FFF2-40B4-BE49-F238E27FC236}">
                <a16:creationId xmlns:a16="http://schemas.microsoft.com/office/drawing/2014/main" id="{3DEF0BD0-038C-4C02-BED8-DC0D95B2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24000"/>
            <a:ext cx="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0" name="p12-top-num-3">
            <a:extLst xmlns:a="http://schemas.openxmlformats.org/drawingml/2006/main">
              <a:ext uri="{FF2B5EF4-FFF2-40B4-BE49-F238E27FC236}">
                <a16:creationId xmlns:a16="http://schemas.microsoft.com/office/drawing/2014/main" id="{4A7B1659-1544-49B7-95D1-AFE09DC4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5621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1" name="p12-top-head-3">
            <a:extLst xmlns:a="http://schemas.openxmlformats.org/drawingml/2006/main">
              <a:ext uri="{FF2B5EF4-FFF2-40B4-BE49-F238E27FC236}">
                <a16:creationId xmlns:a16="http://schemas.microsoft.com/office/drawing/2014/main" id="{A4D7BE8A-D29F-4612-811F-E8E5BE7C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924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엔진 반환</a:t>
            </a:r>
          </a:p>
        </p:txBody>
      </p:sp>
      <p:sp>
        <p:nvSpPr>
          <p:cNvPr id="22" name="p12-top-copy-3">
            <a:extLst xmlns:a="http://schemas.openxmlformats.org/drawingml/2006/main">
              <a:ext uri="{FF2B5EF4-FFF2-40B4-BE49-F238E27FC236}">
                <a16:creationId xmlns:a16="http://schemas.microsoft.com/office/drawing/2014/main" id="{E71E7B76-9A71-49D9-98C8-8E140864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28600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숫자와 rationale 수신</a:t>
            </a:r>
          </a:p>
        </p:txBody>
      </p:sp>
      <p:sp>
        <p:nvSpPr>
          <p:cNvPr id="23" name="p12-top-sep-4">
            <a:extLst xmlns:a="http://schemas.openxmlformats.org/drawingml/2006/main">
              <a:ext uri="{FF2B5EF4-FFF2-40B4-BE49-F238E27FC236}">
                <a16:creationId xmlns:a16="http://schemas.microsoft.com/office/drawing/2014/main" id="{C061917E-6E8D-4409-AAF5-B1C10DA8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524000"/>
            <a:ext cx="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4" name="p12-top-num-4">
            <a:extLst xmlns:a="http://schemas.openxmlformats.org/drawingml/2006/main">
              <a:ext uri="{FF2B5EF4-FFF2-40B4-BE49-F238E27FC236}">
                <a16:creationId xmlns:a16="http://schemas.microsoft.com/office/drawing/2014/main" id="{52EB3A79-6D91-4C7C-9CF9-78B16EB2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621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p12-top-head-4">
            <a:extLst xmlns:a="http://schemas.openxmlformats.org/drawingml/2006/main">
              <a:ext uri="{FF2B5EF4-FFF2-40B4-BE49-F238E27FC236}">
                <a16:creationId xmlns:a16="http://schemas.microsoft.com/office/drawing/2014/main" id="{A2423F5E-5DB6-4C2D-85EE-D33AEC23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답변 작성</a:t>
            </a:r>
          </a:p>
        </p:txBody>
      </p:sp>
      <p:sp>
        <p:nvSpPr>
          <p:cNvPr id="26" name="p12-top-copy-4">
            <a:extLst xmlns:a="http://schemas.openxmlformats.org/drawingml/2006/main">
              <a:ext uri="{FF2B5EF4-FFF2-40B4-BE49-F238E27FC236}">
                <a16:creationId xmlns:a16="http://schemas.microsoft.com/office/drawing/2014/main" id="{9310E053-5F90-4898-9D53-33B9CFAF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8600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반환값을 고객 언어로 설명</a:t>
            </a:r>
          </a:p>
        </p:txBody>
      </p:sp>
      <p:sp>
        <p:nvSpPr>
          <p:cNvPr id="27" name="p12-mid">
            <a:extLst xmlns:a="http://schemas.openxmlformats.org/drawingml/2006/main">
              <a:ext uri="{FF2B5EF4-FFF2-40B4-BE49-F238E27FC236}">
                <a16:creationId xmlns:a16="http://schemas.microsoft.com/office/drawing/2014/main" id="{BC5FE8CC-DEC0-424C-AFAC-A5C0506B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8" name="p12-provider-accent">
            <a:extLst xmlns:a="http://schemas.openxmlformats.org/drawingml/2006/main">
              <a:ext uri="{FF2B5EF4-FFF2-40B4-BE49-F238E27FC236}">
                <a16:creationId xmlns:a16="http://schemas.microsoft.com/office/drawing/2014/main" id="{2B6C5141-8D5B-40DD-AABA-10CC0B7F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9" name="p12-provider-title">
            <a:extLst xmlns:a="http://schemas.openxmlformats.org/drawingml/2006/main">
              <a:ext uri="{FF2B5EF4-FFF2-40B4-BE49-F238E27FC236}">
                <a16:creationId xmlns:a16="http://schemas.microsoft.com/office/drawing/2014/main" id="{FA5216C5-F548-4119-BF65-04235720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프로바이더 전환 순서</a:t>
            </a:r>
          </a:p>
        </p:txBody>
      </p:sp>
      <p:sp>
        <p:nvSpPr>
          <p:cNvPr id="30" name="p12-provider-num-0">
            <a:extLst xmlns:a="http://schemas.openxmlformats.org/drawingml/2006/main">
              <a:ext uri="{FF2B5EF4-FFF2-40B4-BE49-F238E27FC236}">
                <a16:creationId xmlns:a16="http://schemas.microsoft.com/office/drawing/2014/main" id="{E57DC068-AEBD-4AEA-BBF3-380763F8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1" name="p12-provider-head-0">
            <a:extLst xmlns:a="http://schemas.openxmlformats.org/drawingml/2006/main">
              <a:ext uri="{FF2B5EF4-FFF2-40B4-BE49-F238E27FC236}">
                <a16:creationId xmlns:a16="http://schemas.microsoft.com/office/drawing/2014/main" id="{1680FD64-BDD4-4C93-8E46-E3356FEB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OpenAI function calling</a:t>
            </a:r>
          </a:p>
        </p:txBody>
      </p:sp>
      <p:sp>
        <p:nvSpPr>
          <p:cNvPr id="32" name="p12-provider-copy-0">
            <a:extLst xmlns:a="http://schemas.openxmlformats.org/drawingml/2006/main">
              <a:ext uri="{FF2B5EF4-FFF2-40B4-BE49-F238E27FC236}">
                <a16:creationId xmlns:a16="http://schemas.microsoft.com/office/drawing/2014/main" id="{C264D65C-BC07-4DF8-A6F2-66CC86F2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14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OPENAI_API_KEY가 있을 때 사용</a:t>
            </a:r>
          </a:p>
        </p:txBody>
      </p:sp>
      <p:sp>
        <p:nvSpPr>
          <p:cNvPr id="33" name="p12-provider-rule-0">
            <a:extLst xmlns:a="http://schemas.openxmlformats.org/drawingml/2006/main">
              <a:ext uri="{FF2B5EF4-FFF2-40B4-BE49-F238E27FC236}">
                <a16:creationId xmlns:a16="http://schemas.microsoft.com/office/drawing/2014/main" id="{CCDF5262-9B11-4DB7-81B3-25F66076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541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34" name="p12-provider-num-1">
            <a:extLst xmlns:a="http://schemas.openxmlformats.org/drawingml/2006/main">
              <a:ext uri="{FF2B5EF4-FFF2-40B4-BE49-F238E27FC236}">
                <a16:creationId xmlns:a16="http://schemas.microsoft.com/office/drawing/2014/main" id="{4293B257-BA96-45E1-B065-54BC3694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5" name="p12-provider-head-1">
            <a:extLst xmlns:a="http://schemas.openxmlformats.org/drawingml/2006/main">
              <a:ext uri="{FF2B5EF4-FFF2-40B4-BE49-F238E27FC236}">
                <a16:creationId xmlns:a16="http://schemas.microsoft.com/office/drawing/2014/main" id="{8342AF79-E773-4F43-9207-03AB585E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Anthropic tool use</a:t>
            </a:r>
          </a:p>
        </p:txBody>
      </p:sp>
      <p:sp>
        <p:nvSpPr>
          <p:cNvPr id="36" name="p12-provider-copy-1">
            <a:extLst xmlns:a="http://schemas.openxmlformats.org/drawingml/2006/main">
              <a:ext uri="{FF2B5EF4-FFF2-40B4-BE49-F238E27FC236}">
                <a16:creationId xmlns:a16="http://schemas.microsoft.com/office/drawing/2014/main" id="{57607D13-6D5B-4D03-AF3C-D465A778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24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동일한 도구 정의를 변환해 사용</a:t>
            </a:r>
          </a:p>
        </p:txBody>
      </p:sp>
      <p:sp>
        <p:nvSpPr>
          <p:cNvPr id="37" name="p12-provider-rule-1">
            <a:extLst xmlns:a="http://schemas.openxmlformats.org/drawingml/2006/main">
              <a:ext uri="{FF2B5EF4-FFF2-40B4-BE49-F238E27FC236}">
                <a16:creationId xmlns:a16="http://schemas.microsoft.com/office/drawing/2014/main" id="{F796E357-98DA-4C4E-856C-B756BE0D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541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38" name="p12-provider-num-2">
            <a:extLst xmlns:a="http://schemas.openxmlformats.org/drawingml/2006/main">
              <a:ext uri="{FF2B5EF4-FFF2-40B4-BE49-F238E27FC236}">
                <a16:creationId xmlns:a16="http://schemas.microsoft.com/office/drawing/2014/main" id="{231AA23B-2257-4011-9FA0-1C70F18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p12-provider-head-2">
            <a:extLst xmlns:a="http://schemas.openxmlformats.org/drawingml/2006/main">
              <a:ext uri="{FF2B5EF4-FFF2-40B4-BE49-F238E27FC236}">
                <a16:creationId xmlns:a16="http://schemas.microsoft.com/office/drawing/2014/main" id="{71CDF4EC-FEA3-4D61-AFB4-E9D03D63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339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결정론적 템플릿</a:t>
            </a:r>
          </a:p>
        </p:txBody>
      </p:sp>
      <p:sp>
        <p:nvSpPr>
          <p:cNvPr id="40" name="p12-provider-copy-2">
            <a:extLst xmlns:a="http://schemas.openxmlformats.org/drawingml/2006/main">
              <a:ext uri="{FF2B5EF4-FFF2-40B4-BE49-F238E27FC236}">
                <a16:creationId xmlns:a16="http://schemas.microsoft.com/office/drawing/2014/main" id="{E83A48EC-F0F8-454D-AFDB-9A6A2D6C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33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키가 없거나 호출이 실패하면 자동 전환</a:t>
            </a:r>
          </a:p>
        </p:txBody>
      </p:sp>
      <p:sp>
        <p:nvSpPr>
          <p:cNvPr id="41" name="p12-provider-rule-2">
            <a:extLst xmlns:a="http://schemas.openxmlformats.org/drawingml/2006/main">
              <a:ext uri="{FF2B5EF4-FFF2-40B4-BE49-F238E27FC236}">
                <a16:creationId xmlns:a16="http://schemas.microsoft.com/office/drawing/2014/main" id="{BC7250D4-7862-41A0-87EA-F78BCCA2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541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42" name="p12-guard-accent">
            <a:extLst xmlns:a="http://schemas.openxmlformats.org/drawingml/2006/main">
              <a:ext uri="{FF2B5EF4-FFF2-40B4-BE49-F238E27FC236}">
                <a16:creationId xmlns:a16="http://schemas.microsoft.com/office/drawing/2014/main" id="{AC3EBD23-1CE0-474C-9C2D-EAF84AD9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3483C"/>
            </a:solidFill>
            <a:prstDash val="solid"/>
          </a:ln>
        </p:spPr>
      </p:sp>
      <p:sp>
        <p:nvSpPr>
          <p:cNvPr id="43" name="p12-guard-title">
            <a:extLst xmlns:a="http://schemas.openxmlformats.org/drawingml/2006/main">
              <a:ext uri="{FF2B5EF4-FFF2-40B4-BE49-F238E27FC236}">
                <a16:creationId xmlns:a16="http://schemas.microsoft.com/office/drawing/2014/main" id="{370417F2-ED4F-440C-93C1-11A135C9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528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고정된 차단선</a:t>
            </a:r>
          </a:p>
        </p:txBody>
      </p:sp>
      <p:sp>
        <p:nvSpPr>
          <p:cNvPr id="44" name="p12-guard-head-0">
            <a:extLst xmlns:a="http://schemas.openxmlformats.org/drawingml/2006/main">
              <a:ext uri="{FF2B5EF4-FFF2-40B4-BE49-F238E27FC236}">
                <a16:creationId xmlns:a16="http://schemas.microsoft.com/office/drawing/2014/main" id="{6F0A6E14-2071-40C2-95ED-F54C0ADD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금액 생성</a:t>
            </a:r>
          </a:p>
        </p:txBody>
      </p:sp>
      <p:sp>
        <p:nvSpPr>
          <p:cNvPr id="45" name="p12-guard-copy-0">
            <a:extLst xmlns:a="http://schemas.openxmlformats.org/drawingml/2006/main">
              <a:ext uri="{FF2B5EF4-FFF2-40B4-BE49-F238E27FC236}">
                <a16:creationId xmlns:a16="http://schemas.microsoft.com/office/drawing/2014/main" id="{FDD80EEB-0068-42F9-8A19-6F921F75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147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엔진 반환값만 답변에 사용</a:t>
            </a:r>
          </a:p>
        </p:txBody>
      </p:sp>
      <p:sp>
        <p:nvSpPr>
          <p:cNvPr id="46" name="p12-guard-rule-0">
            <a:extLst xmlns:a="http://schemas.openxmlformats.org/drawingml/2006/main">
              <a:ext uri="{FF2B5EF4-FFF2-40B4-BE49-F238E27FC236}">
                <a16:creationId xmlns:a16="http://schemas.microsoft.com/office/drawing/2014/main" id="{9591C038-31E5-4328-AD3E-6B260732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3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47" name="p12-guard-head-1">
            <a:extLst xmlns:a="http://schemas.openxmlformats.org/drawingml/2006/main">
              <a:ext uri="{FF2B5EF4-FFF2-40B4-BE49-F238E27FC236}">
                <a16:creationId xmlns:a16="http://schemas.microsoft.com/office/drawing/2014/main" id="{80FD9A95-0B94-4711-BFC5-E5C936DA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243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근거 동반</a:t>
            </a:r>
          </a:p>
        </p:txBody>
      </p:sp>
      <p:sp>
        <p:nvSpPr>
          <p:cNvPr id="48" name="p12-guard-copy-1">
            <a:extLst xmlns:a="http://schemas.openxmlformats.org/drawingml/2006/main">
              <a:ext uri="{FF2B5EF4-FFF2-40B4-BE49-F238E27FC236}">
                <a16:creationId xmlns:a16="http://schemas.microsoft.com/office/drawing/2014/main" id="{F3C66A8A-6E1C-443C-A86C-D4518D23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243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모든 엔진이 rationale 또는 reasons 반환</a:t>
            </a:r>
          </a:p>
        </p:txBody>
      </p:sp>
      <p:sp>
        <p:nvSpPr>
          <p:cNvPr id="49" name="p12-guard-rule-1">
            <a:extLst xmlns:a="http://schemas.openxmlformats.org/drawingml/2006/main">
              <a:ext uri="{FF2B5EF4-FFF2-40B4-BE49-F238E27FC236}">
                <a16:creationId xmlns:a16="http://schemas.microsoft.com/office/drawing/2014/main" id="{093F28A3-05BA-472D-878B-AA7E2EF8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43450"/>
            <a:ext cx="493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50" name="p12-guard-head-2">
            <a:extLst xmlns:a="http://schemas.openxmlformats.org/drawingml/2006/main">
              <a:ext uri="{FF2B5EF4-FFF2-40B4-BE49-F238E27FC236}">
                <a16:creationId xmlns:a16="http://schemas.microsoft.com/office/drawing/2014/main" id="{FDE16B0D-5636-412F-86CC-31B40B8B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339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추적 정보</a:t>
            </a:r>
          </a:p>
        </p:txBody>
      </p:sp>
      <p:sp>
        <p:nvSpPr>
          <p:cNvPr id="51" name="p12-guard-copy-2">
            <a:extLst xmlns:a="http://schemas.openxmlformats.org/drawingml/2006/main">
              <a:ext uri="{FF2B5EF4-FFF2-40B4-BE49-F238E27FC236}">
                <a16:creationId xmlns:a16="http://schemas.microsoft.com/office/drawing/2014/main" id="{20CB7A62-ABA7-409B-A42D-BE3DC8F1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339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reply, toolCalls[], mode, provider를 응답에 기록</a:t>
            </a:r>
          </a:p>
        </p:txBody>
      </p:sp>
      <p:sp>
        <p:nvSpPr>
          <p:cNvPr id="52" name="p12-guard-rule-2">
            <a:extLst xmlns:a="http://schemas.openxmlformats.org/drawingml/2006/main">
              <a:ext uri="{FF2B5EF4-FFF2-40B4-BE49-F238E27FC236}">
                <a16:creationId xmlns:a16="http://schemas.microsoft.com/office/drawing/2014/main" id="{2EC3B7B6-8ECE-4669-961E-CE580F1D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53050"/>
            <a:ext cx="493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53" name="p12-end">
            <a:extLst xmlns:a="http://schemas.openxmlformats.org/drawingml/2006/main">
              <a:ext uri="{FF2B5EF4-FFF2-40B4-BE49-F238E27FC236}">
                <a16:creationId xmlns:a16="http://schemas.microsoft.com/office/drawing/2014/main" id="{2175B76C-B122-485A-A907-1DA66F33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9595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프로바이더가 바뀌어도 판정 수치는 동일합니다.</a:t>
            </a:r>
          </a:p>
        </p:txBody>
      </p:sp>
    </p:spTree>
    <p:extLst>
      <p:ext uri="{BB962C8B-B14F-4D97-AF65-F5344CB8AC3E}">
        <p14:creationId xmlns:p14="http://schemas.microsoft.com/office/powerpoint/2010/main" val="5143532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lide-13-number">
            <a:extLst xmlns:a="http://schemas.openxmlformats.org/drawingml/2006/main">
              <a:ext uri="{FF2B5EF4-FFF2-40B4-BE49-F238E27FC236}">
                <a16:creationId xmlns:a16="http://schemas.microsoft.com/office/drawing/2014/main" id="{393265EC-681C-4216-AAEB-D832DDA5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2" name="slide-13-head-rule">
            <a:extLst xmlns:a="http://schemas.openxmlformats.org/drawingml/2006/main">
              <a:ext uri="{FF2B5EF4-FFF2-40B4-BE49-F238E27FC236}">
                <a16:creationId xmlns:a16="http://schemas.microsoft.com/office/drawing/2014/main" id="{A71DE517-2F53-4C04-AA54-CCB0533D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ECB93FFD-7629-44F0-B190-115BAA57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정책 규칙 추출과 검증</a:t>
            </a:r>
          </a:p>
        </p:txBody>
      </p:sp>
      <p:sp>
        <p:nvSpPr>
          <p:cNvPr id="4" name="slide-13-subtitle">
            <a:extLst xmlns:a="http://schemas.openxmlformats.org/drawingml/2006/main">
              <a:ext uri="{FF2B5EF4-FFF2-40B4-BE49-F238E27FC236}">
                <a16:creationId xmlns:a16="http://schemas.microsoft.com/office/drawing/2014/main" id="{49D64E8B-F00F-4B4E-B1B6-87DA6777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LLM이 만든 규칙 초안은 원문 인용과 스키마를 통과해야 검토 큐에 들어갑니다</a:t>
            </a:r>
          </a:p>
        </p:txBody>
      </p:sp>
      <p:sp>
        <p:nvSpPr>
          <p:cNvPr id="5" name="slide-13-footer-rule">
            <a:extLst xmlns:a="http://schemas.openxmlformats.org/drawingml/2006/main">
              <a:ext uri="{FF2B5EF4-FFF2-40B4-BE49-F238E27FC236}">
                <a16:creationId xmlns:a16="http://schemas.microsoft.com/office/drawing/2014/main" id="{4E5E3C00-6FC7-4AD7-BB81-1DA0D113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3-footer-left">
            <a:extLst xmlns:a="http://schemas.openxmlformats.org/drawingml/2006/main">
              <a:ext uri="{FF2B5EF4-FFF2-40B4-BE49-F238E27FC236}">
                <a16:creationId xmlns:a16="http://schemas.microsoft.com/office/drawing/2014/main" id="{AB901C14-6465-4910-8A57-CEF2EACD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3-footer-right">
            <a:extLst xmlns:a="http://schemas.openxmlformats.org/drawingml/2006/main">
              <a:ext uri="{FF2B5EF4-FFF2-40B4-BE49-F238E27FC236}">
                <a16:creationId xmlns:a16="http://schemas.microsoft.com/office/drawing/2014/main" id="{BAE34ED4-B830-4EEC-864E-09E9EE23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13 / 19</a:t>
            </a:r>
          </a:p>
        </p:txBody>
      </p:sp>
      <p:sp>
        <p:nvSpPr>
          <p:cNvPr id="8" name="p13-num-0">
            <a:extLst xmlns:a="http://schemas.openxmlformats.org/drawingml/2006/main">
              <a:ext uri="{FF2B5EF4-FFF2-40B4-BE49-F238E27FC236}">
                <a16:creationId xmlns:a16="http://schemas.microsoft.com/office/drawing/2014/main" id="{CF36534E-6D15-4941-BE89-1AA7B8C0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13-head-0">
            <a:extLst xmlns:a="http://schemas.openxmlformats.org/drawingml/2006/main">
              <a:ext uri="{FF2B5EF4-FFF2-40B4-BE49-F238E27FC236}">
                <a16:creationId xmlns:a16="http://schemas.microsoft.com/office/drawing/2014/main" id="{9725D404-025C-4F50-A530-3B36F598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원문 입력</a:t>
            </a:r>
          </a:p>
        </p:txBody>
      </p:sp>
      <p:sp>
        <p:nvSpPr>
          <p:cNvPr id="10" name="p13-rule-0">
            <a:extLst xmlns:a="http://schemas.openxmlformats.org/drawingml/2006/main">
              <a:ext uri="{FF2B5EF4-FFF2-40B4-BE49-F238E27FC236}">
                <a16:creationId xmlns:a16="http://schemas.microsoft.com/office/drawing/2014/main" id="{764BB8A4-9BB7-4646-B945-957A7364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1" name="p13-body-0">
            <a:extLst xmlns:a="http://schemas.openxmlformats.org/drawingml/2006/main">
              <a:ext uri="{FF2B5EF4-FFF2-40B4-BE49-F238E27FC236}">
                <a16:creationId xmlns:a16="http://schemas.microsoft.com/office/drawing/2014/main" id="{5CB4F637-0BAD-4D86-BDF7-AAC2465D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5527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정책 원문과 출처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정책 식별자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조회 시점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코드포인트 기준 원문</a:t>
            </a:r>
          </a:p>
        </p:txBody>
      </p:sp>
      <p:sp>
        <p:nvSpPr>
          <p:cNvPr id="12" name="p13-sep-0">
            <a:extLst xmlns:a="http://schemas.openxmlformats.org/drawingml/2006/main">
              <a:ext uri="{FF2B5EF4-FFF2-40B4-BE49-F238E27FC236}">
                <a16:creationId xmlns:a16="http://schemas.microsoft.com/office/drawing/2014/main" id="{6F354A6A-DC2A-436F-AFA5-76783C36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621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3" name="p13-num-1">
            <a:extLst xmlns:a="http://schemas.openxmlformats.org/drawingml/2006/main">
              <a:ext uri="{FF2B5EF4-FFF2-40B4-BE49-F238E27FC236}">
                <a16:creationId xmlns:a16="http://schemas.microsoft.com/office/drawing/2014/main" id="{A69C7AE4-CEDD-4C8F-85B7-9934F6B0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562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4" name="p13-head-1">
            <a:extLst xmlns:a="http://schemas.openxmlformats.org/drawingml/2006/main">
              <a:ext uri="{FF2B5EF4-FFF2-40B4-BE49-F238E27FC236}">
                <a16:creationId xmlns:a16="http://schemas.microsoft.com/office/drawing/2014/main" id="{F48848AF-5C23-4542-B167-B70BF398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431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초안 검증</a:t>
            </a:r>
          </a:p>
        </p:txBody>
      </p:sp>
      <p:sp>
        <p:nvSpPr>
          <p:cNvPr id="15" name="p13-rule-1">
            <a:extLst xmlns:a="http://schemas.openxmlformats.org/drawingml/2006/main">
              <a:ext uri="{FF2B5EF4-FFF2-40B4-BE49-F238E27FC236}">
                <a16:creationId xmlns:a16="http://schemas.microsoft.com/office/drawing/2014/main" id="{AA0F0ECD-2C08-44FC-A76F-CF9766AA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00300"/>
            <a:ext cx="300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3483C"/>
            </a:solidFill>
            <a:prstDash val="solid"/>
          </a:ln>
        </p:spPr>
      </p:sp>
      <p:sp>
        <p:nvSpPr>
          <p:cNvPr id="16" name="p13-body-1">
            <a:extLst xmlns:a="http://schemas.openxmlformats.org/drawingml/2006/main">
              <a:ext uri="{FF2B5EF4-FFF2-40B4-BE49-F238E27FC236}">
                <a16:creationId xmlns:a16="http://schemas.microsoft.com/office/drawing/2014/main" id="{773DF320-EF7A-4E51-8CE3-3269C81B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47950"/>
            <a:ext cx="30099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LLM이 RuleDraft와 근거 span 제안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서버가 span을 원문과 대조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스키마 오류 및 누락 검사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한 항목이라도 실패하면 전체 폐기</a:t>
            </a:r>
          </a:p>
        </p:txBody>
      </p:sp>
      <p:sp>
        <p:nvSpPr>
          <p:cNvPr id="17" name="p13-sep-1">
            <a:extLst xmlns:a="http://schemas.openxmlformats.org/drawingml/2006/main">
              <a:ext uri="{FF2B5EF4-FFF2-40B4-BE49-F238E27FC236}">
                <a16:creationId xmlns:a16="http://schemas.microsoft.com/office/drawing/2014/main" id="{638411A3-F95C-4D02-94C0-D899578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5621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8" name="p13-num-2">
            <a:extLst xmlns:a="http://schemas.openxmlformats.org/drawingml/2006/main">
              <a:ext uri="{FF2B5EF4-FFF2-40B4-BE49-F238E27FC236}">
                <a16:creationId xmlns:a16="http://schemas.microsoft.com/office/drawing/2014/main" id="{4DADD99B-3E7C-4D46-8D95-5F857C65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62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9" name="p13-head-2">
            <a:extLst xmlns:a="http://schemas.openxmlformats.org/drawingml/2006/main">
              <a:ext uri="{FF2B5EF4-FFF2-40B4-BE49-F238E27FC236}">
                <a16:creationId xmlns:a16="http://schemas.microsoft.com/office/drawing/2014/main" id="{82AE0B7E-4D38-4E7E-AEC9-341972D6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431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20" name="p13-rule-2">
            <a:extLst xmlns:a="http://schemas.openxmlformats.org/drawingml/2006/main">
              <a:ext uri="{FF2B5EF4-FFF2-40B4-BE49-F238E27FC236}">
                <a16:creationId xmlns:a16="http://schemas.microsoft.com/office/drawing/2014/main" id="{E4E87910-D2E4-41FF-9AD8-E3DAEA16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00300"/>
            <a:ext cx="3638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1" name="p13-body-2">
            <a:extLst xmlns:a="http://schemas.openxmlformats.org/drawingml/2006/main">
              <a:ext uri="{FF2B5EF4-FFF2-40B4-BE49-F238E27FC236}">
                <a16:creationId xmlns:a16="http://schemas.microsoft.com/office/drawing/2014/main" id="{9A28BED2-17E8-4913-8795-49564041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6385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통과한 초안만 pending 저장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실패 사유와 JSON 포인터 기록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승인 전에는 시민 판정에서 제외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시도, 지연, 결과를 감사 기록에 남김</a:t>
            </a:r>
          </a:p>
        </p:txBody>
      </p:sp>
      <p:sp>
        <p:nvSpPr>
          <p:cNvPr id="22" name="p13-fail-left">
            <a:extLst xmlns:a="http://schemas.openxmlformats.org/drawingml/2006/main">
              <a:ext uri="{FF2B5EF4-FFF2-40B4-BE49-F238E27FC236}">
                <a16:creationId xmlns:a16="http://schemas.microsoft.com/office/drawing/2014/main" id="{F8F74221-CB42-4966-9E54-0F072A9F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8100" cy="108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3483C"/>
            </a:solidFill>
            <a:prstDash val="solid"/>
          </a:ln>
        </p:spPr>
      </p:sp>
      <p:sp>
        <p:nvSpPr>
          <p:cNvPr id="23" name="p13-fail-head">
            <a:extLst xmlns:a="http://schemas.openxmlformats.org/drawingml/2006/main">
              <a:ext uri="{FF2B5EF4-FFF2-40B4-BE49-F238E27FC236}">
                <a16:creationId xmlns:a16="http://schemas.microsoft.com/office/drawing/2014/main" id="{11B6B7E6-962F-4E05-B5EF-A06606C8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실패를 별도 상태로 기록</a:t>
            </a:r>
          </a:p>
        </p:txBody>
      </p:sp>
      <p:sp>
        <p:nvSpPr>
          <p:cNvPr id="24" name="p13-fail-a">
            <a:extLst xmlns:a="http://schemas.openxmlformats.org/drawingml/2006/main">
              <a:ext uri="{FF2B5EF4-FFF2-40B4-BE49-F238E27FC236}">
                <a16:creationId xmlns:a16="http://schemas.microsoft.com/office/drawing/2014/main" id="{17B60493-5783-4FAC-A2AD-01B9238F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span_not_in_text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인용 구간이 원문과 일치하지 않음</a:t>
            </a:r>
          </a:p>
        </p:txBody>
      </p:sp>
      <p:sp>
        <p:nvSpPr>
          <p:cNvPr id="25" name="p13-fail-b">
            <a:extLst xmlns:a="http://schemas.openxmlformats.org/drawingml/2006/main">
              <a:ext uri="{FF2B5EF4-FFF2-40B4-BE49-F238E27FC236}">
                <a16:creationId xmlns:a16="http://schemas.microsoft.com/office/drawing/2014/main" id="{55384BE9-6092-4EF4-AF44-20A44ADB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482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span_missing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값은 있으나 근거 구간이 없음</a:t>
            </a:r>
          </a:p>
        </p:txBody>
      </p:sp>
      <p:sp>
        <p:nvSpPr>
          <p:cNvPr id="26" name="p13-fail-note">
            <a:extLst xmlns:a="http://schemas.openxmlformats.org/drawingml/2006/main">
              <a:ext uri="{FF2B5EF4-FFF2-40B4-BE49-F238E27FC236}">
                <a16:creationId xmlns:a16="http://schemas.microsoft.com/office/drawing/2014/main" id="{E802B2BC-790F-49A6-9FBB-85FC677A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3657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부분 저장을 허용하지 않습니다. 검증을 모두 통과한 초안만 사람이 검토할 수 있습니다.</a:t>
            </a:r>
          </a:p>
        </p:txBody>
      </p:sp>
      <p:sp>
        <p:nvSpPr>
          <p:cNvPr id="27" name="p13-offset">
            <a:extLst xmlns:a="http://schemas.openxmlformats.org/drawingml/2006/main">
              <a:ext uri="{FF2B5EF4-FFF2-40B4-BE49-F238E27FC236}">
                <a16:creationId xmlns:a16="http://schemas.microsoft.com/office/drawing/2014/main" id="{005FAB1F-3139-496D-8088-01231939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span 오프셋 단위는 유니코드 코드포인트입니다.</a:t>
            </a:r>
          </a:p>
        </p:txBody>
      </p:sp>
    </p:spTree>
    <p:extLst>
      <p:ext uri="{BB962C8B-B14F-4D97-AF65-F5344CB8AC3E}">
        <p14:creationId xmlns:p14="http://schemas.microsoft.com/office/powerpoint/2010/main" val="11295340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14-number">
            <a:extLst xmlns:a="http://schemas.openxmlformats.org/drawingml/2006/main">
              <a:ext uri="{FF2B5EF4-FFF2-40B4-BE49-F238E27FC236}">
                <a16:creationId xmlns:a16="http://schemas.microsoft.com/office/drawing/2014/main" id="{FA5EC87E-149C-47E1-9BFF-F7A46B50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2" name="slide-14-head-rule">
            <a:extLst xmlns:a="http://schemas.openxmlformats.org/drawingml/2006/main">
              <a:ext uri="{FF2B5EF4-FFF2-40B4-BE49-F238E27FC236}">
                <a16:creationId xmlns:a16="http://schemas.microsoft.com/office/drawing/2014/main" id="{FA5D4F99-3131-4518-A9DF-E28C157D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219B4D8B-8CC3-49C9-B338-2020B80F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규칙 검토와 승인 권한</a:t>
            </a:r>
          </a:p>
        </p:txBody>
      </p:sp>
      <p:sp>
        <p:nvSpPr>
          <p:cNvPr id="4" name="slide-14-subtitle">
            <a:extLst xmlns:a="http://schemas.openxmlformats.org/drawingml/2006/main">
              <a:ext uri="{FF2B5EF4-FFF2-40B4-BE49-F238E27FC236}">
                <a16:creationId xmlns:a16="http://schemas.microsoft.com/office/drawing/2014/main" id="{54CA90A1-4114-4DB9-B41E-5650312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규칙 변경은 검토 화면을 거쳐 서버 권한으로 승인되며 모든 결정은 기록됩니다</a:t>
            </a:r>
          </a:p>
        </p:txBody>
      </p:sp>
      <p:sp>
        <p:nvSpPr>
          <p:cNvPr id="5" name="slide-14-footer-rule">
            <a:extLst xmlns:a="http://schemas.openxmlformats.org/drawingml/2006/main">
              <a:ext uri="{FF2B5EF4-FFF2-40B4-BE49-F238E27FC236}">
                <a16:creationId xmlns:a16="http://schemas.microsoft.com/office/drawing/2014/main" id="{93A576DC-9619-4B0D-9088-B24071B6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4-footer-left">
            <a:extLst xmlns:a="http://schemas.openxmlformats.org/drawingml/2006/main">
              <a:ext uri="{FF2B5EF4-FFF2-40B4-BE49-F238E27FC236}">
                <a16:creationId xmlns:a16="http://schemas.microsoft.com/office/drawing/2014/main" id="{A8679916-A02D-4734-875E-A105E128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4-footer-right">
            <a:extLst xmlns:a="http://schemas.openxmlformats.org/drawingml/2006/main">
              <a:ext uri="{FF2B5EF4-FFF2-40B4-BE49-F238E27FC236}">
                <a16:creationId xmlns:a16="http://schemas.microsoft.com/office/drawing/2014/main" id="{AD818D54-2CFD-4020-A46B-177FBE9F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14 / 19</a:t>
            </a:r>
          </a:p>
        </p:txBody>
      </p:sp>
      <p:sp>
        <p:nvSpPr>
          <p:cNvPr id="8" name="p14-stage-num-0">
            <a:extLst xmlns:a="http://schemas.openxmlformats.org/drawingml/2006/main">
              <a:ext uri="{FF2B5EF4-FFF2-40B4-BE49-F238E27FC236}">
                <a16:creationId xmlns:a16="http://schemas.microsoft.com/office/drawing/2014/main" id="{6F824E71-8C61-4481-B524-C87CF686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14-stage-head-0">
            <a:extLst xmlns:a="http://schemas.openxmlformats.org/drawingml/2006/main">
              <a:ext uri="{FF2B5EF4-FFF2-40B4-BE49-F238E27FC236}">
                <a16:creationId xmlns:a16="http://schemas.microsoft.com/office/drawing/2014/main" id="{A10AED70-F3C8-436A-B9E8-32B7633C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대기 큐</a:t>
            </a:r>
          </a:p>
        </p:txBody>
      </p:sp>
      <p:sp>
        <p:nvSpPr>
          <p:cNvPr id="10" name="p14-stage-rule-0">
            <a:extLst xmlns:a="http://schemas.openxmlformats.org/drawingml/2006/main">
              <a:ext uri="{FF2B5EF4-FFF2-40B4-BE49-F238E27FC236}">
                <a16:creationId xmlns:a16="http://schemas.microsoft.com/office/drawing/2014/main" id="{CCC1C6F3-D92C-44DC-A760-8799C5E5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1" name="p14-stage-copy-0">
            <a:extLst xmlns:a="http://schemas.openxmlformats.org/drawingml/2006/main">
              <a:ext uri="{FF2B5EF4-FFF2-40B4-BE49-F238E27FC236}">
                <a16:creationId xmlns:a16="http://schemas.microsoft.com/office/drawing/2014/main" id="{7C25E7DC-B678-494B-839C-2A377447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pending 초안과 실패 사유 확인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현장 데이터 신고는 별도 유형으로 구분</a:t>
            </a:r>
          </a:p>
        </p:txBody>
      </p:sp>
      <p:sp>
        <p:nvSpPr>
          <p:cNvPr id="12" name="p14-stage-sep-0">
            <a:extLst xmlns:a="http://schemas.openxmlformats.org/drawingml/2006/main">
              <a:ext uri="{FF2B5EF4-FFF2-40B4-BE49-F238E27FC236}">
                <a16:creationId xmlns:a16="http://schemas.microsoft.com/office/drawing/2014/main" id="{71F082E9-35A4-462E-AE73-D7945AA1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24000"/>
            <a:ext cx="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3" name="p14-stage-num-1">
            <a:extLst xmlns:a="http://schemas.openxmlformats.org/drawingml/2006/main">
              <a:ext uri="{FF2B5EF4-FFF2-40B4-BE49-F238E27FC236}">
                <a16:creationId xmlns:a16="http://schemas.microsoft.com/office/drawing/2014/main" id="{F64D4F15-07D9-4E9F-9892-AF2D399E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240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4" name="p14-stage-head-1">
            <a:extLst xmlns:a="http://schemas.openxmlformats.org/drawingml/2006/main">
              <a:ext uri="{FF2B5EF4-FFF2-40B4-BE49-F238E27FC236}">
                <a16:creationId xmlns:a16="http://schemas.microsoft.com/office/drawing/2014/main" id="{73DEDF36-FB2F-4527-B0D6-C9028D46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검토 화면</a:t>
            </a:r>
          </a:p>
        </p:txBody>
      </p:sp>
      <p:sp>
        <p:nvSpPr>
          <p:cNvPr id="15" name="p14-stage-rule-1">
            <a:extLst xmlns:a="http://schemas.openxmlformats.org/drawingml/2006/main">
              <a:ext uri="{FF2B5EF4-FFF2-40B4-BE49-F238E27FC236}">
                <a16:creationId xmlns:a16="http://schemas.microsoft.com/office/drawing/2014/main" id="{435C7A17-C795-493F-9134-D5DEE87C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6" name="p14-stage-copy-1">
            <a:extLst xmlns:a="http://schemas.openxmlformats.org/drawingml/2006/main">
              <a:ext uri="{FF2B5EF4-FFF2-40B4-BE49-F238E27FC236}">
                <a16:creationId xmlns:a16="http://schemas.microsoft.com/office/drawing/2014/main" id="{9C9E21F1-E543-4B3D-A570-371D641B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0985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원문과 인용 구간 대조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필드 변경 전후와 회귀 영향도 확인</a:t>
            </a:r>
          </a:p>
        </p:txBody>
      </p:sp>
      <p:sp>
        <p:nvSpPr>
          <p:cNvPr id="17" name="p14-stage-sep-1">
            <a:extLst xmlns:a="http://schemas.openxmlformats.org/drawingml/2006/main">
              <a:ext uri="{FF2B5EF4-FFF2-40B4-BE49-F238E27FC236}">
                <a16:creationId xmlns:a16="http://schemas.microsoft.com/office/drawing/2014/main" id="{4FE77664-6265-4234-9D18-AD3C3D58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524000"/>
            <a:ext cx="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8" name="p14-stage-num-2">
            <a:extLst xmlns:a="http://schemas.openxmlformats.org/drawingml/2006/main">
              <a:ext uri="{FF2B5EF4-FFF2-40B4-BE49-F238E27FC236}">
                <a16:creationId xmlns:a16="http://schemas.microsoft.com/office/drawing/2014/main" id="{6F2DE345-4BC9-4C88-AB27-84789882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240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9" name="p14-stage-head-2">
            <a:extLst xmlns:a="http://schemas.openxmlformats.org/drawingml/2006/main">
              <a:ext uri="{FF2B5EF4-FFF2-40B4-BE49-F238E27FC236}">
                <a16:creationId xmlns:a16="http://schemas.microsoft.com/office/drawing/2014/main" id="{E7FDBB19-7792-4BBC-984C-C569F213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승인 또는 반려</a:t>
            </a:r>
          </a:p>
        </p:txBody>
      </p:sp>
      <p:sp>
        <p:nvSpPr>
          <p:cNvPr id="20" name="p14-stage-rule-2">
            <a:extLst xmlns:a="http://schemas.openxmlformats.org/drawingml/2006/main">
              <a:ext uri="{FF2B5EF4-FFF2-40B4-BE49-F238E27FC236}">
                <a16:creationId xmlns:a16="http://schemas.microsoft.com/office/drawing/2014/main" id="{3AF68794-4BCA-420B-A2B2-D426E2CF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622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1" name="p14-stage-copy-2">
            <a:extLst xmlns:a="http://schemas.openxmlformats.org/drawingml/2006/main">
              <a:ext uri="{FF2B5EF4-FFF2-40B4-BE49-F238E27FC236}">
                <a16:creationId xmlns:a16="http://schemas.microsoft.com/office/drawing/2014/main" id="{9FA66818-DEEE-47DC-8860-CBAC5FD9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985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승인 시 불변 RuleVersion 생성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반려 사유는 필수이며 두 결과 모두 기록</a:t>
            </a:r>
          </a:p>
        </p:txBody>
      </p:sp>
      <p:sp>
        <p:nvSpPr>
          <p:cNvPr id="22" name="p14-mid">
            <a:extLst xmlns:a="http://schemas.openxmlformats.org/drawingml/2006/main">
              <a:ext uri="{FF2B5EF4-FFF2-40B4-BE49-F238E27FC236}">
                <a16:creationId xmlns:a16="http://schemas.microsoft.com/office/drawing/2014/main" id="{BFAD3DCA-1CA2-4D51-A4C5-12227022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3" name="p14-role-accent">
            <a:extLst xmlns:a="http://schemas.openxmlformats.org/drawingml/2006/main">
              <a:ext uri="{FF2B5EF4-FFF2-40B4-BE49-F238E27FC236}">
                <a16:creationId xmlns:a16="http://schemas.microsoft.com/office/drawing/2014/main" id="{503EBD5E-C7DF-4127-A99F-95FA09D9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4" name="p14-role-title">
            <a:extLst xmlns:a="http://schemas.openxmlformats.org/drawingml/2006/main">
              <a:ext uri="{FF2B5EF4-FFF2-40B4-BE49-F238E27FC236}">
                <a16:creationId xmlns:a16="http://schemas.microsoft.com/office/drawing/2014/main" id="{7F203761-468A-468C-B05D-E061AC76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역할별 권한</a:t>
            </a:r>
          </a:p>
        </p:txBody>
      </p:sp>
      <p:sp>
        <p:nvSpPr>
          <p:cNvPr id="25" name="p14-role-a-head">
            <a:extLst xmlns:a="http://schemas.openxmlformats.org/drawingml/2006/main">
              <a:ext uri="{FF2B5EF4-FFF2-40B4-BE49-F238E27FC236}">
                <a16:creationId xmlns:a16="http://schemas.microsoft.com/office/drawing/2014/main" id="{212E9754-D82E-454C-A81D-B04FF338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상담원</a:t>
            </a:r>
          </a:p>
        </p:txBody>
      </p:sp>
      <p:sp>
        <p:nvSpPr>
          <p:cNvPr id="26" name="p14-role-a">
            <a:extLst xmlns:a="http://schemas.openxmlformats.org/drawingml/2006/main">
              <a:ext uri="{FF2B5EF4-FFF2-40B4-BE49-F238E27FC236}">
                <a16:creationId xmlns:a16="http://schemas.microsoft.com/office/drawing/2014/main" id="{323E7463-B18C-4861-B9FE-90EB81F6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591050"/>
            <a:ext cx="3619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시민 판정의 내부 근거 확인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데이터 이상 신고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규칙 승인 API는 403으로 거부</a:t>
            </a:r>
          </a:p>
        </p:txBody>
      </p:sp>
      <p:sp>
        <p:nvSpPr>
          <p:cNvPr id="27" name="p14-role-sep">
            <a:extLst xmlns:a="http://schemas.openxmlformats.org/drawingml/2006/main">
              <a:ext uri="{FF2B5EF4-FFF2-40B4-BE49-F238E27FC236}">
                <a16:creationId xmlns:a16="http://schemas.microsoft.com/office/drawing/2014/main" id="{8A67BA2A-8AE2-4C57-B329-9A7932A8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57700"/>
            <a:ext cx="0" cy="1162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8" name="p14-role-b-head">
            <a:extLst xmlns:a="http://schemas.openxmlformats.org/drawingml/2006/main">
              <a:ext uri="{FF2B5EF4-FFF2-40B4-BE49-F238E27FC236}">
                <a16:creationId xmlns:a16="http://schemas.microsoft.com/office/drawing/2014/main" id="{42B37486-55F0-46ED-AD7B-71565DA6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10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규칙관리자</a:t>
            </a:r>
          </a:p>
        </p:txBody>
      </p:sp>
      <p:sp>
        <p:nvSpPr>
          <p:cNvPr id="29" name="p14-role-b">
            <a:extLst xmlns:a="http://schemas.openxmlformats.org/drawingml/2006/main">
              <a:ext uri="{FF2B5EF4-FFF2-40B4-BE49-F238E27FC236}">
                <a16:creationId xmlns:a16="http://schemas.microsoft.com/office/drawing/2014/main" id="{D1EB2749-9BC4-4B19-9270-C47CA487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91050"/>
            <a:ext cx="3486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대기 큐와 검토 화면 접근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승인·반려 및 운영 지표 확인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동시 승인 시 조건부 갱신으로 중복 방지</a:t>
            </a:r>
          </a:p>
        </p:txBody>
      </p:sp>
      <p:sp>
        <p:nvSpPr>
          <p:cNvPr id="30" name="p14-note">
            <a:extLst xmlns:a="http://schemas.openxmlformats.org/drawingml/2006/main">
              <a:ext uri="{FF2B5EF4-FFF2-40B4-BE49-F238E27FC236}">
                <a16:creationId xmlns:a16="http://schemas.microsoft.com/office/drawing/2014/main" id="{16CCEE0D-ABB5-4E61-BADF-595F2E17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권한 분리는 화면 구성이 아니라 서버의 세션과 API 검사로 강제합니다.</a:t>
            </a:r>
          </a:p>
        </p:txBody>
      </p:sp>
    </p:spTree>
    <p:extLst>
      <p:ext uri="{BB962C8B-B14F-4D97-AF65-F5344CB8AC3E}">
        <p14:creationId xmlns:p14="http://schemas.microsoft.com/office/powerpoint/2010/main" val="7184268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15-number">
            <a:extLst xmlns:a="http://schemas.openxmlformats.org/drawingml/2006/main">
              <a:ext uri="{FF2B5EF4-FFF2-40B4-BE49-F238E27FC236}">
                <a16:creationId xmlns:a16="http://schemas.microsoft.com/office/drawing/2014/main" id="{1AE624BE-8452-4CFA-A0B0-813B031C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2" name="slide-15-head-rule">
            <a:extLst xmlns:a="http://schemas.openxmlformats.org/drawingml/2006/main">
              <a:ext uri="{FF2B5EF4-FFF2-40B4-BE49-F238E27FC236}">
                <a16:creationId xmlns:a16="http://schemas.microsoft.com/office/drawing/2014/main" id="{747D90FC-3744-43FA-84F6-E3CC693B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46C45447-1BDC-4119-AD60-06EC6CA3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데이터 출처와 감사 기록</a:t>
            </a:r>
          </a:p>
        </p:txBody>
      </p:sp>
      <p:sp>
        <p:nvSpPr>
          <p:cNvPr id="4" name="slide-15-subtitle">
            <a:extLst xmlns:a="http://schemas.openxmlformats.org/drawingml/2006/main">
              <a:ext uri="{FF2B5EF4-FFF2-40B4-BE49-F238E27FC236}">
                <a16:creationId xmlns:a16="http://schemas.microsoft.com/office/drawing/2014/main" id="{53F4AD1D-9E69-4568-ACC5-A55C6F57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값의 출처와 검증 상태, 운영 이력을 함께 기록합니다</a:t>
            </a:r>
          </a:p>
        </p:txBody>
      </p:sp>
      <p:sp>
        <p:nvSpPr>
          <p:cNvPr id="5" name="slide-15-footer-rule">
            <a:extLst xmlns:a="http://schemas.openxmlformats.org/drawingml/2006/main">
              <a:ext uri="{FF2B5EF4-FFF2-40B4-BE49-F238E27FC236}">
                <a16:creationId xmlns:a16="http://schemas.microsoft.com/office/drawing/2014/main" id="{1D2E727E-249D-4317-8FD1-9A79B31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5-footer-left">
            <a:extLst xmlns:a="http://schemas.openxmlformats.org/drawingml/2006/main">
              <a:ext uri="{FF2B5EF4-FFF2-40B4-BE49-F238E27FC236}">
                <a16:creationId xmlns:a16="http://schemas.microsoft.com/office/drawing/2014/main" id="{0A44489D-4890-47D2-B453-0BBBCB79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5-footer-right">
            <a:extLst xmlns:a="http://schemas.openxmlformats.org/drawingml/2006/main">
              <a:ext uri="{FF2B5EF4-FFF2-40B4-BE49-F238E27FC236}">
                <a16:creationId xmlns:a16="http://schemas.microsoft.com/office/drawing/2014/main" id="{BF1A9884-A6F8-46B2-A3F6-2128867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15 / 19</a:t>
            </a:r>
          </a:p>
        </p:txBody>
      </p:sp>
      <p:sp>
        <p:nvSpPr>
          <p:cNvPr id="8" name="p15-tier-line-0">
            <a:extLst xmlns:a="http://schemas.openxmlformats.org/drawingml/2006/main">
              <a:ext uri="{FF2B5EF4-FFF2-40B4-BE49-F238E27FC236}">
                <a16:creationId xmlns:a16="http://schemas.microsoft.com/office/drawing/2014/main" id="{F58770EE-C7E9-43CC-A632-4720E36C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56B57"/>
            </a:solidFill>
            <a:prstDash val="solid"/>
          </a:ln>
        </p:spPr>
      </p:sp>
      <p:sp>
        <p:nvSpPr>
          <p:cNvPr id="9" name="p15-tier-name-0">
            <a:extLst xmlns:a="http://schemas.openxmlformats.org/drawingml/2006/main">
              <a:ext uri="{FF2B5EF4-FFF2-40B4-BE49-F238E27FC236}">
                <a16:creationId xmlns:a16="http://schemas.microsoft.com/office/drawing/2014/main" id="{0F44900E-888F-4FBF-AC44-6FB191B6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356B57"/>
                </a:solidFill>
                <a:latin typeface="맑은 고딕"/>
                <a:ea typeface="맑은 고딕"/>
                <a:cs typeface="맑은 고딕"/>
              </a:rPr>
              <a:t>verified</a:t>
            </a:r>
          </a:p>
        </p:txBody>
      </p:sp>
      <p:sp>
        <p:nvSpPr>
          <p:cNvPr id="10" name="p15-tier-def-0">
            <a:extLst xmlns:a="http://schemas.openxmlformats.org/drawingml/2006/main">
              <a:ext uri="{FF2B5EF4-FFF2-40B4-BE49-F238E27FC236}">
                <a16:creationId xmlns:a16="http://schemas.microsoft.com/office/drawing/2014/main" id="{D0809D08-946E-4EFC-A643-62C67232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출처 문서를 열어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대조한 값</a:t>
            </a:r>
          </a:p>
        </p:txBody>
      </p:sp>
      <p:sp>
        <p:nvSpPr>
          <p:cNvPr id="11" name="p15-tier-ex-0">
            <a:extLst xmlns:a="http://schemas.openxmlformats.org/drawingml/2006/main">
              <a:ext uri="{FF2B5EF4-FFF2-40B4-BE49-F238E27FC236}">
                <a16:creationId xmlns:a16="http://schemas.microsoft.com/office/drawing/2014/main" id="{F8577D07-5D87-46DB-A12B-1120EE9A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지역 시세 5개 필드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국토교통부 실거래가 실측</a:t>
            </a:r>
          </a:p>
        </p:txBody>
      </p:sp>
      <p:sp>
        <p:nvSpPr>
          <p:cNvPr id="12" name="p15-tier-sep-0">
            <a:extLst xmlns:a="http://schemas.openxmlformats.org/drawingml/2006/main">
              <a:ext uri="{FF2B5EF4-FFF2-40B4-BE49-F238E27FC236}">
                <a16:creationId xmlns:a16="http://schemas.microsoft.com/office/drawing/2014/main" id="{A3BA58B6-4F93-40A8-B83E-C3C8672F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62100"/>
            <a:ext cx="0" cy="1924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3" name="p15-tier-line-1">
            <a:extLst xmlns:a="http://schemas.openxmlformats.org/drawingml/2006/main">
              <a:ext uri="{FF2B5EF4-FFF2-40B4-BE49-F238E27FC236}">
                <a16:creationId xmlns:a16="http://schemas.microsoft.com/office/drawing/2014/main" id="{37D3E2D3-3A64-4771-9E89-26A32C5F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77913"/>
            </a:solidFill>
            <a:prstDash val="solid"/>
          </a:ln>
        </p:spPr>
      </p:sp>
      <p:sp>
        <p:nvSpPr>
          <p:cNvPr id="14" name="p15-tier-name-1">
            <a:extLst xmlns:a="http://schemas.openxmlformats.org/drawingml/2006/main">
              <a:ext uri="{FF2B5EF4-FFF2-40B4-BE49-F238E27FC236}">
                <a16:creationId xmlns:a16="http://schemas.microsoft.com/office/drawing/2014/main" id="{10703BB1-8D1F-4F13-ABE2-E2365A8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unverified</a:t>
            </a:r>
          </a:p>
        </p:txBody>
      </p:sp>
      <p:sp>
        <p:nvSpPr>
          <p:cNvPr id="15" name="p15-tier-def-1">
            <a:extLst xmlns:a="http://schemas.openxmlformats.org/drawingml/2006/main">
              <a:ext uri="{FF2B5EF4-FFF2-40B4-BE49-F238E27FC236}">
                <a16:creationId xmlns:a16="http://schemas.microsoft.com/office/drawing/2014/main" id="{6079BA39-CA76-405A-9DAB-248E4487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출처를 아직 특정하지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못한 값</a:t>
            </a:r>
          </a:p>
        </p:txBody>
      </p:sp>
      <p:sp>
        <p:nvSpPr>
          <p:cNvPr id="16" name="p15-tier-ex-1">
            <a:extLst xmlns:a="http://schemas.openxmlformats.org/drawingml/2006/main">
              <a:ext uri="{FF2B5EF4-FFF2-40B4-BE49-F238E27FC236}">
                <a16:creationId xmlns:a16="http://schemas.microsoft.com/office/drawing/2014/main" id="{2347279E-9132-4D2C-8305-6CA1CCB6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194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관리비와 시장 위험도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일부 정책 조건 및 금리 시드</a:t>
            </a:r>
          </a:p>
        </p:txBody>
      </p:sp>
      <p:sp>
        <p:nvSpPr>
          <p:cNvPr id="17" name="p15-tier-sep-1">
            <a:extLst xmlns:a="http://schemas.openxmlformats.org/drawingml/2006/main">
              <a:ext uri="{FF2B5EF4-FFF2-40B4-BE49-F238E27FC236}">
                <a16:creationId xmlns:a16="http://schemas.microsoft.com/office/drawing/2014/main" id="{BABD20E8-72DA-4C70-8739-DA6742A1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562100"/>
            <a:ext cx="0" cy="1924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8" name="p15-tier-line-2">
            <a:extLst xmlns:a="http://schemas.openxmlformats.org/drawingml/2006/main">
              <a:ext uri="{FF2B5EF4-FFF2-40B4-BE49-F238E27FC236}">
                <a16:creationId xmlns:a16="http://schemas.microsoft.com/office/drawing/2014/main" id="{44BD0A48-46D4-4380-B1FA-E437E6C6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6210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94A64"/>
            </a:solidFill>
            <a:prstDash val="solid"/>
          </a:ln>
        </p:spPr>
      </p:sp>
      <p:sp>
        <p:nvSpPr>
          <p:cNvPr id="19" name="p15-tier-name-2">
            <a:extLst xmlns:a="http://schemas.openxmlformats.org/drawingml/2006/main">
              <a:ext uri="{FF2B5EF4-FFF2-40B4-BE49-F238E27FC236}">
                <a16:creationId xmlns:a16="http://schemas.microsoft.com/office/drawing/2014/main" id="{272C00C8-4F40-498A-8CB1-B4C6D14F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294A64"/>
                </a:solidFill>
                <a:latin typeface="맑은 고딕"/>
                <a:ea typeface="맑은 고딕"/>
                <a:cs typeface="맑은 고딕"/>
              </a:rPr>
              <a:t>our_choice</a:t>
            </a:r>
          </a:p>
        </p:txBody>
      </p:sp>
      <p:sp>
        <p:nvSpPr>
          <p:cNvPr id="20" name="p15-tier-def-2">
            <a:extLst xmlns:a="http://schemas.openxmlformats.org/drawingml/2006/main">
              <a:ext uri="{FF2B5EF4-FFF2-40B4-BE49-F238E27FC236}">
                <a16:creationId xmlns:a16="http://schemas.microsoft.com/office/drawing/2014/main" id="{E222C237-312E-41A4-A5F9-49CE2C09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288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공표 준거가 없어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서비스가 정한 값</a:t>
            </a:r>
          </a:p>
        </p:txBody>
      </p:sp>
      <p:sp>
        <p:nvSpPr>
          <p:cNvPr id="21" name="p15-tier-ex-2">
            <a:extLst xmlns:a="http://schemas.openxmlformats.org/drawingml/2006/main">
              <a:ext uri="{FF2B5EF4-FFF2-40B4-BE49-F238E27FC236}">
                <a16:creationId xmlns:a16="http://schemas.microsoft.com/office/drawing/2014/main" id="{5D9F51B7-CEF5-426C-82D9-0A366C09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194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판정 임계와 가중치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선택 사실을 화면과 계약에 표시</a:t>
            </a:r>
          </a:p>
        </p:txBody>
      </p:sp>
      <p:sp>
        <p:nvSpPr>
          <p:cNvPr id="22" name="p15-mid">
            <a:extLst xmlns:a="http://schemas.openxmlformats.org/drawingml/2006/main">
              <a:ext uri="{FF2B5EF4-FFF2-40B4-BE49-F238E27FC236}">
                <a16:creationId xmlns:a16="http://schemas.microsoft.com/office/drawing/2014/main" id="{6A6578F0-52A7-42BD-8CB3-11AE0AC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3" name="p15-audit-accent">
            <a:extLst xmlns:a="http://schemas.openxmlformats.org/drawingml/2006/main">
              <a:ext uri="{FF2B5EF4-FFF2-40B4-BE49-F238E27FC236}">
                <a16:creationId xmlns:a16="http://schemas.microsoft.com/office/drawing/2014/main" id="{7A8D4790-F6C4-4C32-BB8B-3F6C8066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4" name="p15-audit-title">
            <a:extLst xmlns:a="http://schemas.openxmlformats.org/drawingml/2006/main">
              <a:ext uri="{FF2B5EF4-FFF2-40B4-BE49-F238E27FC236}">
                <a16:creationId xmlns:a16="http://schemas.microsoft.com/office/drawing/2014/main" id="{DC4D7157-F766-480B-8C47-2DAD6B30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25" name="p15-audit-copy">
            <a:extLst xmlns:a="http://schemas.openxmlformats.org/drawingml/2006/main">
              <a:ext uri="{FF2B5EF4-FFF2-40B4-BE49-F238E27FC236}">
                <a16:creationId xmlns:a16="http://schemas.microsoft.com/office/drawing/2014/main" id="{BD002342-E259-40E9-B012-697DE486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857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AuditEvent는 추출, 승인, 반려, 신고를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덧붙이기 방식으로 기록합니다.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삭제 경로를 두지 않으며 사유 본문은 파일 로그에 쓰지 않습니다.</a:t>
            </a:r>
          </a:p>
        </p:txBody>
      </p:sp>
      <p:sp>
        <p:nvSpPr>
          <p:cNvPr id="26" name="p15-metric-accent">
            <a:extLst xmlns:a="http://schemas.openxmlformats.org/drawingml/2006/main">
              <a:ext uri="{FF2B5EF4-FFF2-40B4-BE49-F238E27FC236}">
                <a16:creationId xmlns:a16="http://schemas.microsoft.com/office/drawing/2014/main" id="{496EAF09-B1F1-4C83-9978-271923FF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7" name="p15-metric-title">
            <a:extLst xmlns:a="http://schemas.openxmlformats.org/drawingml/2006/main">
              <a:ext uri="{FF2B5EF4-FFF2-40B4-BE49-F238E27FC236}">
                <a16:creationId xmlns:a16="http://schemas.microsoft.com/office/drawing/2014/main" id="{2228D4CD-BA49-4BC0-931A-ECAF547B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005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운영 지표</a:t>
            </a:r>
          </a:p>
        </p:txBody>
      </p:sp>
      <p:sp>
        <p:nvSpPr>
          <p:cNvPr id="28" name="p15-metric-copy">
            <a:extLst xmlns:a="http://schemas.openxmlformats.org/drawingml/2006/main">
              <a:ext uri="{FF2B5EF4-FFF2-40B4-BE49-F238E27FC236}">
                <a16:creationId xmlns:a16="http://schemas.microsoft.com/office/drawing/2014/main" id="{74A3D100-8A1F-49E9-A956-1BEBE590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배치 상태, 데이터 신선도, 대기 큐,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LLM 호출 성공률과 지연을 표시합니다.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측정값이 없으면 0으로 채우지 않고 미수집 상태를 그대로 보여줍니다.</a:t>
            </a:r>
          </a:p>
        </p:txBody>
      </p:sp>
      <p:sp>
        <p:nvSpPr>
          <p:cNvPr id="29" name="p15-end">
            <a:extLst xmlns:a="http://schemas.openxmlformats.org/drawingml/2006/main">
              <a:ext uri="{FF2B5EF4-FFF2-40B4-BE49-F238E27FC236}">
                <a16:creationId xmlns:a16="http://schemas.microsoft.com/office/drawing/2014/main" id="{33F39770-BB33-4887-ACDF-EA2C2A8B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출처를 찾지 못한 값과 서비스가 정한 값은 서로 다른 등급으로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7162277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lide-16-number">
            <a:extLst xmlns:a="http://schemas.openxmlformats.org/drawingml/2006/main">
              <a:ext uri="{FF2B5EF4-FFF2-40B4-BE49-F238E27FC236}">
                <a16:creationId xmlns:a16="http://schemas.microsoft.com/office/drawing/2014/main" id="{C89DC58E-B585-440C-AAE0-5EADAFD6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2" name="slide-16-head-rule">
            <a:extLst xmlns:a="http://schemas.openxmlformats.org/drawingml/2006/main">
              <a:ext uri="{FF2B5EF4-FFF2-40B4-BE49-F238E27FC236}">
                <a16:creationId xmlns:a16="http://schemas.microsoft.com/office/drawing/2014/main" id="{11D2C74E-C50E-45E9-A473-D67FA0BB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8475F67A-382F-4C4C-966D-9FCC73FB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오프라인 동작과 시연 재현</a:t>
            </a:r>
          </a:p>
        </p:txBody>
      </p:sp>
      <p:sp>
        <p:nvSpPr>
          <p:cNvPr id="4" name="slide-16-subtitle">
            <a:extLst xmlns:a="http://schemas.openxmlformats.org/drawingml/2006/main">
              <a:ext uri="{FF2B5EF4-FFF2-40B4-BE49-F238E27FC236}">
                <a16:creationId xmlns:a16="http://schemas.microsoft.com/office/drawing/2014/main" id="{35EF2606-9345-4CEF-BDE9-6FD59F9F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네트워크 차단 상태를 회차마다 확인하고 같은 시연 흐름을 세 번 다시 실행했습니다</a:t>
            </a:r>
          </a:p>
        </p:txBody>
      </p:sp>
      <p:sp>
        <p:nvSpPr>
          <p:cNvPr id="5" name="slide-16-footer-rule">
            <a:extLst xmlns:a="http://schemas.openxmlformats.org/drawingml/2006/main">
              <a:ext uri="{FF2B5EF4-FFF2-40B4-BE49-F238E27FC236}">
                <a16:creationId xmlns:a16="http://schemas.microsoft.com/office/drawing/2014/main" id="{2A1EBA44-4F50-4203-9D1D-37D89D21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6-footer-left">
            <a:extLst xmlns:a="http://schemas.openxmlformats.org/drawingml/2006/main">
              <a:ext uri="{FF2B5EF4-FFF2-40B4-BE49-F238E27FC236}">
                <a16:creationId xmlns:a16="http://schemas.microsoft.com/office/drawing/2014/main" id="{13C9A0AF-480E-4AEF-86C2-FCBBD489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6-footer-right">
            <a:extLst xmlns:a="http://schemas.openxmlformats.org/drawingml/2006/main">
              <a:ext uri="{FF2B5EF4-FFF2-40B4-BE49-F238E27FC236}">
                <a16:creationId xmlns:a16="http://schemas.microsoft.com/office/drawing/2014/main" id="{53B3D05A-C293-4D6B-BB24-7A449D7F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16 / 19</a:t>
            </a:r>
          </a:p>
        </p:txBody>
      </p:sp>
      <p:sp>
        <p:nvSpPr>
          <p:cNvPr id="8" name="p16-fact-num-0">
            <a:extLst xmlns:a="http://schemas.openxmlformats.org/drawingml/2006/main">
              <a:ext uri="{FF2B5EF4-FFF2-40B4-BE49-F238E27FC236}">
                <a16:creationId xmlns:a16="http://schemas.microsoft.com/office/drawing/2014/main" id="{68A206E5-1324-4C94-BB20-FE951B77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16-fact-head-0">
            <a:extLst xmlns:a="http://schemas.openxmlformats.org/drawingml/2006/main">
              <a:ext uri="{FF2B5EF4-FFF2-40B4-BE49-F238E27FC236}">
                <a16:creationId xmlns:a16="http://schemas.microsoft.com/office/drawing/2014/main" id="{42A3379C-0D26-4733-8C56-E3D36E27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차단 확인</a:t>
            </a:r>
          </a:p>
        </p:txBody>
      </p:sp>
      <p:sp>
        <p:nvSpPr>
          <p:cNvPr id="10" name="p16-fact-copy-0">
            <a:extLst xmlns:a="http://schemas.openxmlformats.org/drawingml/2006/main">
              <a:ext uri="{FF2B5EF4-FFF2-40B4-BE49-F238E27FC236}">
                <a16:creationId xmlns:a16="http://schemas.microsoft.com/office/drawing/2014/main" id="{F54CD7A9-1AA3-425F-B962-BA12E207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각 회차의 5개 지점에서 무선 상태를 다시 확인</a:t>
            </a:r>
          </a:p>
        </p:txBody>
      </p:sp>
      <p:sp>
        <p:nvSpPr>
          <p:cNvPr id="11" name="p16-fact-sep-0">
            <a:extLst xmlns:a="http://schemas.openxmlformats.org/drawingml/2006/main">
              <a:ext uri="{FF2B5EF4-FFF2-40B4-BE49-F238E27FC236}">
                <a16:creationId xmlns:a16="http://schemas.microsoft.com/office/drawing/2014/main" id="{545FBE63-14AD-4859-89AD-7A7BA345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43050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2" name="p16-fact-num-1">
            <a:extLst xmlns:a="http://schemas.openxmlformats.org/drawingml/2006/main">
              <a:ext uri="{FF2B5EF4-FFF2-40B4-BE49-F238E27FC236}">
                <a16:creationId xmlns:a16="http://schemas.microsoft.com/office/drawing/2014/main" id="{C34BE2C1-B0C9-4AD4-87F1-5ABFBCEE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43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p16-fact-head-1">
            <a:extLst xmlns:a="http://schemas.openxmlformats.org/drawingml/2006/main">
              <a:ext uri="{FF2B5EF4-FFF2-40B4-BE49-F238E27FC236}">
                <a16:creationId xmlns:a16="http://schemas.microsoft.com/office/drawing/2014/main" id="{7AFB261C-6170-454E-A839-28F0FBDD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24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대조 결과</a:t>
            </a:r>
          </a:p>
        </p:txBody>
      </p:sp>
      <p:sp>
        <p:nvSpPr>
          <p:cNvPr id="14" name="p16-fact-copy-1">
            <a:extLst xmlns:a="http://schemas.openxmlformats.org/drawingml/2006/main">
              <a:ext uri="{FF2B5EF4-FFF2-40B4-BE49-F238E27FC236}">
                <a16:creationId xmlns:a16="http://schemas.microsoft.com/office/drawing/2014/main" id="{06B0D310-1486-4ACE-90EF-04DA1919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050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32개 항목을 비교해 불일치 0건, 장면 오류 0건</a:t>
            </a:r>
          </a:p>
        </p:txBody>
      </p:sp>
      <p:sp>
        <p:nvSpPr>
          <p:cNvPr id="15" name="p16-fact-sep-1">
            <a:extLst xmlns:a="http://schemas.openxmlformats.org/drawingml/2006/main">
              <a:ext uri="{FF2B5EF4-FFF2-40B4-BE49-F238E27FC236}">
                <a16:creationId xmlns:a16="http://schemas.microsoft.com/office/drawing/2014/main" id="{3B94FAFA-124E-493C-8F75-98C0729C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543050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6" name="p16-fact-num-2">
            <a:extLst xmlns:a="http://schemas.openxmlformats.org/drawingml/2006/main">
              <a:ext uri="{FF2B5EF4-FFF2-40B4-BE49-F238E27FC236}">
                <a16:creationId xmlns:a16="http://schemas.microsoft.com/office/drawing/2014/main" id="{7F008B9F-14E1-4F32-B5A0-7B20C054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43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p16-fact-head-2">
            <a:extLst xmlns:a="http://schemas.openxmlformats.org/drawingml/2006/main">
              <a:ext uri="{FF2B5EF4-FFF2-40B4-BE49-F238E27FC236}">
                <a16:creationId xmlns:a16="http://schemas.microsoft.com/office/drawing/2014/main" id="{DC6F1E5A-9696-49EF-B5D7-1A0F832D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허용된 실패</a:t>
            </a:r>
          </a:p>
        </p:txBody>
      </p:sp>
      <p:sp>
        <p:nvSpPr>
          <p:cNvPr id="18" name="p16-fact-copy-2">
            <a:extLst xmlns:a="http://schemas.openxmlformats.org/drawingml/2006/main">
              <a:ext uri="{FF2B5EF4-FFF2-40B4-BE49-F238E27FC236}">
                <a16:creationId xmlns:a16="http://schemas.microsoft.com/office/drawing/2014/main" id="{1650D200-3AB7-43CD-9C31-59390C20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050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외부 수집 실패 시 이전 값을 유지하고 계보를 stale로 변경</a:t>
            </a:r>
          </a:p>
        </p:txBody>
      </p:sp>
      <p:sp>
        <p:nvSpPr>
          <p:cNvPr id="19" name="p16-mid">
            <a:extLst xmlns:a="http://schemas.openxmlformats.org/drawingml/2006/main">
              <a:ext uri="{FF2B5EF4-FFF2-40B4-BE49-F238E27FC236}">
                <a16:creationId xmlns:a16="http://schemas.microsoft.com/office/drawing/2014/main" id="{EAD338F3-A2DC-4985-885A-0F370417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0" name="p16-story-accent">
            <a:extLst xmlns:a="http://schemas.openxmlformats.org/drawingml/2006/main">
              <a:ext uri="{FF2B5EF4-FFF2-40B4-BE49-F238E27FC236}">
                <a16:creationId xmlns:a16="http://schemas.microsoft.com/office/drawing/2014/main" id="{2C14F617-8838-48FE-AFE1-B7845F13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3483C"/>
            </a:solidFill>
            <a:prstDash val="solid"/>
          </a:ln>
        </p:spPr>
      </p:sp>
      <p:sp>
        <p:nvSpPr>
          <p:cNvPr id="21" name="p16-story-title">
            <a:extLst xmlns:a="http://schemas.openxmlformats.org/drawingml/2006/main">
              <a:ext uri="{FF2B5EF4-FFF2-40B4-BE49-F238E27FC236}">
                <a16:creationId xmlns:a16="http://schemas.microsoft.com/office/drawing/2014/main" id="{E65BB43A-6FFC-4C44-8872-5102CFAE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41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재검증한 이유</a:t>
            </a:r>
          </a:p>
        </p:txBody>
      </p:sp>
      <p:sp>
        <p:nvSpPr>
          <p:cNvPr id="22" name="p16-story-copy">
            <a:extLst xmlns:a="http://schemas.openxmlformats.org/drawingml/2006/main">
              <a:ext uri="{FF2B5EF4-FFF2-40B4-BE49-F238E27FC236}">
                <a16:creationId xmlns:a16="http://schemas.microsoft.com/office/drawing/2014/main" id="{4B7BD407-1C2B-4140-84F8-848AA852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62484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처음에는 무선을 끄고 세 번 실행했지만, 회차 중 무선이 다시 활성화된 사실을 뒤늦게 확인했습니다. 이후 차단 방법을 바꾸고 각 회차의 시작과 주요 전환 지점에서 상태를 다시 확인했습니다. 기존 결과를 채택하지 않고 전 과정을 처음부터 다시 실행했습니다.</a:t>
            </a:r>
          </a:p>
        </p:txBody>
      </p:sp>
      <p:sp>
        <p:nvSpPr>
          <p:cNvPr id="23" name="p16-demo-accent">
            <a:extLst xmlns:a="http://schemas.openxmlformats.org/drawingml/2006/main">
              <a:ext uri="{FF2B5EF4-FFF2-40B4-BE49-F238E27FC236}">
                <a16:creationId xmlns:a16="http://schemas.microsoft.com/office/drawing/2014/main" id="{DB3510C6-9F4D-4D5A-B0D0-874F5443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24" name="p16-demo-title">
            <a:extLst xmlns:a="http://schemas.openxmlformats.org/drawingml/2006/main">
              <a:ext uri="{FF2B5EF4-FFF2-40B4-BE49-F238E27FC236}">
                <a16:creationId xmlns:a16="http://schemas.microsoft.com/office/drawing/2014/main" id="{C854CEB3-AFE0-46AC-8A59-1CB53093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407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노트북 한 대에서 재현하는 순서</a:t>
            </a:r>
          </a:p>
        </p:txBody>
      </p:sp>
      <p:sp>
        <p:nvSpPr>
          <p:cNvPr id="25" name="p16-demo-num-0">
            <a:extLst xmlns:a="http://schemas.openxmlformats.org/drawingml/2006/main">
              <a:ext uri="{FF2B5EF4-FFF2-40B4-BE49-F238E27FC236}">
                <a16:creationId xmlns:a16="http://schemas.microsoft.com/office/drawing/2014/main" id="{5FC6ED9C-9E2C-45C4-BCA3-490D7821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576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6" name="p16-demo-copy-0">
            <a:extLst xmlns:a="http://schemas.openxmlformats.org/drawingml/2006/main">
              <a:ext uri="{FF2B5EF4-FFF2-40B4-BE49-F238E27FC236}">
                <a16:creationId xmlns:a16="http://schemas.microsoft.com/office/drawing/2014/main" id="{E94E4404-BCDF-4E59-B202-CFCFB313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733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저장소와 픽스처 준비</a:t>
            </a:r>
          </a:p>
        </p:txBody>
      </p:sp>
      <p:sp>
        <p:nvSpPr>
          <p:cNvPr id="27" name="p16-demo-num-1">
            <a:extLst xmlns:a="http://schemas.openxmlformats.org/drawingml/2006/main">
              <a:ext uri="{FF2B5EF4-FFF2-40B4-BE49-F238E27FC236}">
                <a16:creationId xmlns:a16="http://schemas.microsoft.com/office/drawing/2014/main" id="{D6C1378A-2C40-4C79-9EC3-23004C08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5770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8" name="p16-demo-copy-1">
            <a:extLst xmlns:a="http://schemas.openxmlformats.org/drawingml/2006/main">
              <a:ext uri="{FF2B5EF4-FFF2-40B4-BE49-F238E27FC236}">
                <a16:creationId xmlns:a16="http://schemas.microsoft.com/office/drawing/2014/main" id="{8654AAC1-D1C0-4856-8EB7-32835386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57700"/>
            <a:ext cx="3733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시민 판정 실행</a:t>
            </a:r>
          </a:p>
        </p:txBody>
      </p:sp>
      <p:sp>
        <p:nvSpPr>
          <p:cNvPr id="29" name="p16-demo-num-2">
            <a:extLst xmlns:a="http://schemas.openxmlformats.org/drawingml/2006/main">
              <a:ext uri="{FF2B5EF4-FFF2-40B4-BE49-F238E27FC236}">
                <a16:creationId xmlns:a16="http://schemas.microsoft.com/office/drawing/2014/main" id="{26F92343-2D1C-4494-A441-7EE21247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0" name="p16-demo-copy-2">
            <a:extLst xmlns:a="http://schemas.openxmlformats.org/drawingml/2006/main">
              <a:ext uri="{FF2B5EF4-FFF2-40B4-BE49-F238E27FC236}">
                <a16:creationId xmlns:a16="http://schemas.microsoft.com/office/drawing/2014/main" id="{CD5A8445-D0F7-4B07-ACE3-07E2AB3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57750"/>
            <a:ext cx="3733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상담원 신고와 규칙 승인</a:t>
            </a:r>
          </a:p>
        </p:txBody>
      </p:sp>
      <p:sp>
        <p:nvSpPr>
          <p:cNvPr id="31" name="p16-demo-num-3">
            <a:extLst xmlns:a="http://schemas.openxmlformats.org/drawingml/2006/main">
              <a:ext uri="{FF2B5EF4-FFF2-40B4-BE49-F238E27FC236}">
                <a16:creationId xmlns:a16="http://schemas.microsoft.com/office/drawing/2014/main" id="{AF9D3CB1-676F-4700-8121-2ECE1DF5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5780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2" name="p16-demo-copy-3">
            <a:extLst xmlns:a="http://schemas.openxmlformats.org/drawingml/2006/main">
              <a:ext uri="{FF2B5EF4-FFF2-40B4-BE49-F238E27FC236}">
                <a16:creationId xmlns:a16="http://schemas.microsoft.com/office/drawing/2014/main" id="{F2B87A9A-07BE-4DE5-A95D-6C69D9B1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3733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시민 화면에서 변경 확인</a:t>
            </a:r>
          </a:p>
        </p:txBody>
      </p:sp>
      <p:sp>
        <p:nvSpPr>
          <p:cNvPr id="33" name="p16-end">
            <a:extLst xmlns:a="http://schemas.openxmlformats.org/drawingml/2006/main">
              <a:ext uri="{FF2B5EF4-FFF2-40B4-BE49-F238E27FC236}">
                <a16:creationId xmlns:a16="http://schemas.microsoft.com/office/drawing/2014/main" id="{885C0668-24EE-4E40-9E25-2AA2E71E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회차별 관측과 채택하지 않은 결과의 사유도 대본 문서에 남겼습니다.</a:t>
            </a:r>
          </a:p>
        </p:txBody>
      </p:sp>
    </p:spTree>
    <p:extLst>
      <p:ext uri="{BB962C8B-B14F-4D97-AF65-F5344CB8AC3E}">
        <p14:creationId xmlns:p14="http://schemas.microsoft.com/office/powerpoint/2010/main" val="3976923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17-number">
            <a:extLst xmlns:a="http://schemas.openxmlformats.org/drawingml/2006/main">
              <a:ext uri="{FF2B5EF4-FFF2-40B4-BE49-F238E27FC236}">
                <a16:creationId xmlns:a16="http://schemas.microsoft.com/office/drawing/2014/main" id="{48D536EE-D1C9-45FA-B3B1-82FB85F8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2" name="slide-17-head-rule">
            <a:extLst xmlns:a="http://schemas.openxmlformats.org/drawingml/2006/main">
              <a:ext uri="{FF2B5EF4-FFF2-40B4-BE49-F238E27FC236}">
                <a16:creationId xmlns:a16="http://schemas.microsoft.com/office/drawing/2014/main" id="{DE41745E-A0FA-4E22-A3A6-528DC8E7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7CA8BF8A-9A91-45DD-8D2C-08FCEDF0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화면 흐름과 기술 스택</a:t>
            </a:r>
          </a:p>
        </p:txBody>
      </p:sp>
      <p:sp>
        <p:nvSpPr>
          <p:cNvPr id="4" name="slide-17-subtitle">
            <a:extLst xmlns:a="http://schemas.openxmlformats.org/drawingml/2006/main">
              <a:ext uri="{FF2B5EF4-FFF2-40B4-BE49-F238E27FC236}">
                <a16:creationId xmlns:a16="http://schemas.microsoft.com/office/drawing/2014/main" id="{920F7833-DD10-411B-9EBB-65ED04FD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프로필 입력에서 결과 확인과 후속 상담까지 한 페이지에서 이어집니다</a:t>
            </a:r>
          </a:p>
        </p:txBody>
      </p:sp>
      <p:sp>
        <p:nvSpPr>
          <p:cNvPr id="5" name="slide-17-footer-rule">
            <a:extLst xmlns:a="http://schemas.openxmlformats.org/drawingml/2006/main">
              <a:ext uri="{FF2B5EF4-FFF2-40B4-BE49-F238E27FC236}">
                <a16:creationId xmlns:a16="http://schemas.microsoft.com/office/drawing/2014/main" id="{B59D722F-3DA0-4B54-8E84-3A4B249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7-footer-left">
            <a:extLst xmlns:a="http://schemas.openxmlformats.org/drawingml/2006/main">
              <a:ext uri="{FF2B5EF4-FFF2-40B4-BE49-F238E27FC236}">
                <a16:creationId xmlns:a16="http://schemas.microsoft.com/office/drawing/2014/main" id="{C449914A-B83F-4289-8471-B6742FB0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7-footer-right">
            <a:extLst xmlns:a="http://schemas.openxmlformats.org/drawingml/2006/main">
              <a:ext uri="{FF2B5EF4-FFF2-40B4-BE49-F238E27FC236}">
                <a16:creationId xmlns:a16="http://schemas.microsoft.com/office/drawing/2014/main" id="{61F9C138-206D-45FB-B397-1222647F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17 / 19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ef5bc83cd46ba"/>
          <a:stretch xmlns:a="http://schemas.openxmlformats.org/drawingml/2006/main"/>
        </p:blipFill>
        <p:spPr>
          <a:xfrm xmlns:a="http://schemas.openxmlformats.org/drawingml/2006/main">
            <a:off x="1019175" y="1524000"/>
            <a:ext cx="6019800" cy="3762375"/>
          </a:xfrm>
          <a:prstGeom xmlns:a="http://schemas.openxmlformats.org/drawingml/2006/main" prst="rect">
            <a:avLst/>
          </a:prstGeom>
        </p:spPr>
      </p:pic>
      <p:sp>
        <p:nvSpPr>
          <p:cNvPr id="9" name="p17-image-bottom">
            <a:extLst xmlns:a="http://schemas.openxmlformats.org/drawingml/2006/main">
              <a:ext uri="{FF2B5EF4-FFF2-40B4-BE49-F238E27FC236}">
                <a16:creationId xmlns:a16="http://schemas.microsoft.com/office/drawing/2014/main" id="{EABC8CD4-73A6-4CCB-BC4F-1711FAE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668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10" name="p17-caption">
            <a:extLst xmlns:a="http://schemas.openxmlformats.org/drawingml/2006/main">
              <a:ext uri="{FF2B5EF4-FFF2-40B4-BE49-F238E27FC236}">
                <a16:creationId xmlns:a16="http://schemas.microsoft.com/office/drawing/2014/main" id="{763BB4DC-C344-4EF3-8738-58BA026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6686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실제 실행 화면: 주거비 상한, 비용 비교, 정책 결과, 위험 점수</a:t>
            </a:r>
          </a:p>
        </p:txBody>
      </p:sp>
      <p:sp>
        <p:nvSpPr>
          <p:cNvPr id="11" name="p17-flow-accent">
            <a:extLst xmlns:a="http://schemas.openxmlformats.org/drawingml/2006/main">
              <a:ext uri="{FF2B5EF4-FFF2-40B4-BE49-F238E27FC236}">
                <a16:creationId xmlns:a16="http://schemas.microsoft.com/office/drawing/2014/main" id="{FDCDDCDC-9E77-4871-B1A6-33C21A04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77913"/>
            </a:solidFill>
            <a:prstDash val="solid"/>
          </a:ln>
        </p:spPr>
      </p:sp>
      <p:sp>
        <p:nvSpPr>
          <p:cNvPr id="12" name="p17-flow-title">
            <a:extLst xmlns:a="http://schemas.openxmlformats.org/drawingml/2006/main">
              <a:ext uri="{FF2B5EF4-FFF2-40B4-BE49-F238E27FC236}">
                <a16:creationId xmlns:a16="http://schemas.microsoft.com/office/drawing/2014/main" id="{02CE75CF-BD79-4B9B-B483-9DF6FE04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38300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사용 흐름</a:t>
            </a:r>
          </a:p>
        </p:txBody>
      </p:sp>
      <p:sp>
        <p:nvSpPr>
          <p:cNvPr id="13" name="p17-flow-copy">
            <a:extLst xmlns:a="http://schemas.openxmlformats.org/drawingml/2006/main">
              <a:ext uri="{FF2B5EF4-FFF2-40B4-BE49-F238E27FC236}">
                <a16:creationId xmlns:a16="http://schemas.microsoft.com/office/drawing/2014/main" id="{9C6FCCA4-24FE-4845-91FF-85DBF89E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81200"/>
            <a:ext cx="3657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1  프로필 입력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2  결과 대시보드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3  진단 결과에 질문</a:t>
            </a:r>
          </a:p>
        </p:txBody>
      </p:sp>
      <p:sp>
        <p:nvSpPr>
          <p:cNvPr id="14" name="p17-side-mid">
            <a:extLst xmlns:a="http://schemas.openxmlformats.org/drawingml/2006/main">
              <a:ext uri="{FF2B5EF4-FFF2-40B4-BE49-F238E27FC236}">
                <a16:creationId xmlns:a16="http://schemas.microsoft.com/office/drawing/2014/main" id="{F4886233-CEFF-4900-A235-73B84F21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5" name="p17-stack-accent">
            <a:extLst xmlns:a="http://schemas.openxmlformats.org/drawingml/2006/main">
              <a:ext uri="{FF2B5EF4-FFF2-40B4-BE49-F238E27FC236}">
                <a16:creationId xmlns:a16="http://schemas.microsoft.com/office/drawing/2014/main" id="{74765503-4729-438A-9CD8-3DD6DB55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861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8324A"/>
            </a:solidFill>
            <a:prstDash val="solid"/>
          </a:ln>
        </p:spPr>
      </p:sp>
      <p:sp>
        <p:nvSpPr>
          <p:cNvPr id="16" name="p17-stack-title">
            <a:extLst xmlns:a="http://schemas.openxmlformats.org/drawingml/2006/main">
              <a:ext uri="{FF2B5EF4-FFF2-40B4-BE49-F238E27FC236}">
                <a16:creationId xmlns:a16="http://schemas.microsoft.com/office/drawing/2014/main" id="{C943D0E9-4516-4EA5-A6E5-1993F6E4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00450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17" name="p17-stack-copy">
            <a:extLst xmlns:a="http://schemas.openxmlformats.org/drawingml/2006/main">
              <a:ext uri="{FF2B5EF4-FFF2-40B4-BE49-F238E27FC236}">
                <a16:creationId xmlns:a16="http://schemas.microsoft.com/office/drawing/2014/main" id="{BB6B07BA-3358-4F9A-B49F-54715947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43350"/>
            <a:ext cx="3657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프론트엔드  Vanilla HTML / CSS / JS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백엔드  Python 3.11+ / FastAPI / SQLite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차트  인라인 SVG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테스트  pytest 단위·교차 검사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실행  uvicorn + dev.bat</a:t>
            </a:r>
          </a:p>
        </p:txBody>
      </p:sp>
      <p:sp>
        <p:nvSpPr>
          <p:cNvPr id="18" name="p17-end">
            <a:extLst xmlns:a="http://schemas.openxmlformats.org/drawingml/2006/main">
              <a:ext uri="{FF2B5EF4-FFF2-40B4-BE49-F238E27FC236}">
                <a16:creationId xmlns:a16="http://schemas.microsoft.com/office/drawing/2014/main" id="{3E398965-DC37-4296-AD8C-15C747B7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빌드 도구와 CDN 의존성을 두지 않아 심사 환경에서 재현 가능한 실행을 우선했습니다.</a:t>
            </a:r>
          </a:p>
        </p:txBody>
      </p:sp>
    </p:spTree>
    <p:extLst>
      <p:ext uri="{BB962C8B-B14F-4D97-AF65-F5344CB8AC3E}">
        <p14:creationId xmlns:p14="http://schemas.microsoft.com/office/powerpoint/2010/main" val="14645317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18-number">
            <a:extLst xmlns:a="http://schemas.openxmlformats.org/drawingml/2006/main">
              <a:ext uri="{FF2B5EF4-FFF2-40B4-BE49-F238E27FC236}">
                <a16:creationId xmlns:a16="http://schemas.microsoft.com/office/drawing/2014/main" id="{D65126B9-0FF9-45B2-8016-77636D6C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2" name="slide-18-head-rule">
            <a:extLst xmlns:a="http://schemas.openxmlformats.org/drawingml/2006/main">
              <a:ext uri="{FF2B5EF4-FFF2-40B4-BE49-F238E27FC236}">
                <a16:creationId xmlns:a16="http://schemas.microsoft.com/office/drawing/2014/main" id="{D85ED2E9-CA89-4D5F-AC91-EBCFF9A3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8-title">
            <a:extLst xmlns:a="http://schemas.openxmlformats.org/drawingml/2006/main">
              <a:ext uri="{FF2B5EF4-FFF2-40B4-BE49-F238E27FC236}">
                <a16:creationId xmlns:a16="http://schemas.microsoft.com/office/drawing/2014/main" id="{03C402DD-EB42-4DC4-9BDD-E5E49968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프로토타입 수치와 데이터 한계</a:t>
            </a:r>
          </a:p>
        </p:txBody>
      </p:sp>
      <p:sp>
        <p:nvSpPr>
          <p:cNvPr id="4" name="slide-18-subtitle">
            <a:extLst xmlns:a="http://schemas.openxmlformats.org/drawingml/2006/main">
              <a:ext uri="{FF2B5EF4-FFF2-40B4-BE49-F238E27FC236}">
                <a16:creationId xmlns:a16="http://schemas.microsoft.com/office/drawing/2014/main" id="{4882A94D-B7D9-47C9-841B-8FCCF9FE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항목별 출처와 검증 상태를 구분하고 확인되지 않은 값은 그대로 표시합니다</a:t>
            </a:r>
          </a:p>
        </p:txBody>
      </p:sp>
      <p:sp>
        <p:nvSpPr>
          <p:cNvPr id="5" name="slide-18-footer-rule">
            <a:extLst xmlns:a="http://schemas.openxmlformats.org/drawingml/2006/main">
              <a:ext uri="{FF2B5EF4-FFF2-40B4-BE49-F238E27FC236}">
                <a16:creationId xmlns:a16="http://schemas.microsoft.com/office/drawing/2014/main" id="{20530F89-1F36-4E44-9292-11BE318F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8-footer-left">
            <a:extLst xmlns:a="http://schemas.openxmlformats.org/drawingml/2006/main">
              <a:ext uri="{FF2B5EF4-FFF2-40B4-BE49-F238E27FC236}">
                <a16:creationId xmlns:a16="http://schemas.microsoft.com/office/drawing/2014/main" id="{8DB654E2-658B-466C-A96B-A64E4847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8-footer-right">
            <a:extLst xmlns:a="http://schemas.openxmlformats.org/drawingml/2006/main">
              <a:ext uri="{FF2B5EF4-FFF2-40B4-BE49-F238E27FC236}">
                <a16:creationId xmlns:a16="http://schemas.microsoft.com/office/drawing/2014/main" id="{DF4A4264-3494-4D21-B20C-9E109F88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18 / 19</a:t>
            </a:r>
          </a:p>
        </p:txBody>
      </p:sp>
      <p:sp>
        <p:nvSpPr>
          <p:cNvPr id="8" name="p18-warning-rule">
            <a:extLst xmlns:a="http://schemas.openxmlformats.org/drawingml/2006/main">
              <a:ext uri="{FF2B5EF4-FFF2-40B4-BE49-F238E27FC236}">
                <a16:creationId xmlns:a16="http://schemas.microsoft.com/office/drawing/2014/main" id="{EF07091D-F6ED-429D-8ACA-039AAB56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3810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3483C"/>
            </a:solidFill>
            <a:prstDash val="solid"/>
          </a:ln>
        </p:spPr>
      </p:sp>
      <p:sp>
        <p:nvSpPr>
          <p:cNvPr id="9" name="p18-warning">
            <a:extLst xmlns:a="http://schemas.openxmlformats.org/drawingml/2006/main">
              <a:ext uri="{FF2B5EF4-FFF2-40B4-BE49-F238E27FC236}">
                <a16:creationId xmlns:a16="http://schemas.microsoft.com/office/drawing/2014/main" id="{36D80D85-A527-4814-9222-AE82B19F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610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1">
                <a:solidFill>
                  <a:srgbClr val="A3483C"/>
                </a:solidFill>
                <a:latin typeface="맑은 고딕"/>
                <a:ea typeface="맑은 고딕"/>
                <a:cs typeface="맑은 고딕"/>
              </a:rPr>
              <a:t>프로토타입 시연용 예시 수치입니다. 실제 조건은 취급 금융기관 고시 기준을 따릅니다.</a:t>
            </a:r>
          </a:p>
        </p:txBody>
      </p:sp>
      <p:sp>
        <p:nvSpPr>
          <p:cNvPr id="10" name="p18-row-head-0">
            <a:extLst xmlns:a="http://schemas.openxmlformats.org/drawingml/2006/main">
              <a:ext uri="{FF2B5EF4-FFF2-40B4-BE49-F238E27FC236}">
                <a16:creationId xmlns:a16="http://schemas.microsoft.com/office/drawing/2014/main" id="{2745F3EF-3FCB-4277-9B88-215FDABE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금리·한도·기간</a:t>
            </a:r>
          </a:p>
        </p:txBody>
      </p:sp>
      <p:sp>
        <p:nvSpPr>
          <p:cNvPr id="11" name="p18-row-copy-0">
            <a:extLst xmlns:a="http://schemas.openxmlformats.org/drawingml/2006/main">
              <a:ext uri="{FF2B5EF4-FFF2-40B4-BE49-F238E27FC236}">
                <a16:creationId xmlns:a16="http://schemas.microsoft.com/office/drawing/2014/main" id="{29662358-05C2-406D-8D15-8C9EA5B6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43150"/>
            <a:ext cx="840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시연용 예시 수치입니다. 특정 금융회사의 실제 조건을 옮기거나 추정하지 않았습니다.</a:t>
            </a:r>
          </a:p>
        </p:txBody>
      </p:sp>
      <p:sp>
        <p:nvSpPr>
          <p:cNvPr id="12" name="p18-row-rule-0">
            <a:extLst xmlns:a="http://schemas.openxmlformats.org/drawingml/2006/main">
              <a:ext uri="{FF2B5EF4-FFF2-40B4-BE49-F238E27FC236}">
                <a16:creationId xmlns:a16="http://schemas.microsoft.com/office/drawing/2014/main" id="{EFAE8B6C-C568-43A1-AC89-6027065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3" name="p18-row-head-1">
            <a:extLst xmlns:a="http://schemas.openxmlformats.org/drawingml/2006/main">
              <a:ext uri="{FF2B5EF4-FFF2-40B4-BE49-F238E27FC236}">
                <a16:creationId xmlns:a16="http://schemas.microsoft.com/office/drawing/2014/main" id="{16157911-D5A1-4FDF-ACA5-A89F9DD8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제도 요건</a:t>
            </a:r>
          </a:p>
        </p:txBody>
      </p:sp>
      <p:sp>
        <p:nvSpPr>
          <p:cNvPr id="14" name="p18-row-copy-1">
            <a:extLst xmlns:a="http://schemas.openxmlformats.org/drawingml/2006/main">
              <a:ext uri="{FF2B5EF4-FFF2-40B4-BE49-F238E27FC236}">
                <a16:creationId xmlns:a16="http://schemas.microsoft.com/office/drawing/2014/main" id="{BD7AB526-AE2B-4873-B856-54336B7B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67050"/>
            <a:ext cx="840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연령, 무주택 등 공개된 일반 요건만 기술했습니다. 세부 기준은 기관과 시점에 따라 달라집니다.</a:t>
            </a:r>
          </a:p>
        </p:txBody>
      </p:sp>
      <p:sp>
        <p:nvSpPr>
          <p:cNvPr id="15" name="p18-row-rule-1">
            <a:extLst xmlns:a="http://schemas.openxmlformats.org/drawingml/2006/main">
              <a:ext uri="{FF2B5EF4-FFF2-40B4-BE49-F238E27FC236}">
                <a16:creationId xmlns:a16="http://schemas.microsoft.com/office/drawing/2014/main" id="{F65E8179-4BA7-436C-9787-C342327C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6" name="p18-row-head-2">
            <a:extLst xmlns:a="http://schemas.openxmlformats.org/drawingml/2006/main">
              <a:ext uri="{FF2B5EF4-FFF2-40B4-BE49-F238E27FC236}">
                <a16:creationId xmlns:a16="http://schemas.microsoft.com/office/drawing/2014/main" id="{05C884B4-850A-40D5-A74F-9B3C3A87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통계 인용</a:t>
            </a:r>
          </a:p>
        </p:txBody>
      </p:sp>
      <p:sp>
        <p:nvSpPr>
          <p:cNvPr id="17" name="p18-row-copy-2">
            <a:extLst xmlns:a="http://schemas.openxmlformats.org/drawingml/2006/main">
              <a:ext uri="{FF2B5EF4-FFF2-40B4-BE49-F238E27FC236}">
                <a16:creationId xmlns:a16="http://schemas.microsoft.com/office/drawing/2014/main" id="{1466FBD4-6E49-4007-9E6F-B6D8BD8A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90950"/>
            <a:ext cx="840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출처를 명시할 수 없는 통계는 인용하지 않았습니다. 필요한 경우 참고 자료의 범위만 표시했습니다.</a:t>
            </a:r>
          </a:p>
        </p:txBody>
      </p:sp>
      <p:sp>
        <p:nvSpPr>
          <p:cNvPr id="18" name="p18-row-rule-2">
            <a:extLst xmlns:a="http://schemas.openxmlformats.org/drawingml/2006/main">
              <a:ext uri="{FF2B5EF4-FFF2-40B4-BE49-F238E27FC236}">
                <a16:creationId xmlns:a16="http://schemas.microsoft.com/office/drawing/2014/main" id="{473626A1-778D-4B4F-A810-95AB43BA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9" name="p18-row-head-3">
            <a:extLst xmlns:a="http://schemas.openxmlformats.org/drawingml/2006/main">
              <a:ext uri="{FF2B5EF4-FFF2-40B4-BE49-F238E27FC236}">
                <a16:creationId xmlns:a16="http://schemas.microsoft.com/office/drawing/2014/main" id="{F2B651DE-E5E7-4781-BE67-0AC48AEE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지역 시세</a:t>
            </a:r>
          </a:p>
        </p:txBody>
      </p:sp>
      <p:sp>
        <p:nvSpPr>
          <p:cNvPr id="20" name="p18-row-copy-3">
            <a:extLst xmlns:a="http://schemas.openxmlformats.org/drawingml/2006/main">
              <a:ext uri="{FF2B5EF4-FFF2-40B4-BE49-F238E27FC236}">
                <a16:creationId xmlns:a16="http://schemas.microsoft.com/office/drawing/2014/main" id="{C368D355-0702-4925-B7CD-F32678E9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14850"/>
            <a:ext cx="840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200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8개 필드 중 5개는 국토교통부 실거래가 실측값입니다. 관리비, 시장 위험도, 보증 가능성은 출처를 특정하지 못한 값입니다.</a:t>
            </a:r>
          </a:p>
        </p:txBody>
      </p:sp>
      <p:sp>
        <p:nvSpPr>
          <p:cNvPr id="21" name="p18-row-rule-3">
            <a:extLst xmlns:a="http://schemas.openxmlformats.org/drawingml/2006/main">
              <a:ext uri="{FF2B5EF4-FFF2-40B4-BE49-F238E27FC236}">
                <a16:creationId xmlns:a16="http://schemas.microsoft.com/office/drawing/2014/main" id="{894E4D83-32E6-4C18-AEA4-B5C18BEB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22" name="p18-structure">
            <a:extLst xmlns:a="http://schemas.openxmlformats.org/drawingml/2006/main">
              <a:ext uri="{FF2B5EF4-FFF2-40B4-BE49-F238E27FC236}">
                <a16:creationId xmlns:a16="http://schemas.microsoft.com/office/drawing/2014/main" id="{A09A45DE-E0E1-4E99-9233-39B5B125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18-structure-head">
            <a:extLst xmlns:a="http://schemas.openxmlformats.org/drawingml/2006/main">
              <a:ext uri="{FF2B5EF4-FFF2-40B4-BE49-F238E27FC236}">
                <a16:creationId xmlns:a16="http://schemas.microsoft.com/office/drawing/2014/main" id="{65E4F0F9-9D2C-4F4A-8607-E0CFB071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864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데이터 구조의 필수 필드</a:t>
            </a:r>
          </a:p>
        </p:txBody>
      </p:sp>
      <p:sp>
        <p:nvSpPr>
          <p:cNvPr id="24" name="p18-structure-code">
            <a:extLst xmlns:a="http://schemas.openxmlformats.org/drawingml/2006/main">
              <a:ext uri="{FF2B5EF4-FFF2-40B4-BE49-F238E27FC236}">
                <a16:creationId xmlns:a16="http://schemas.microsoft.com/office/drawing/2014/main" id="{27800A84-932A-400C-B4C5-DDB62B1C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76875"/>
            <a:ext cx="788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source: 출처 기관명     disclaimer: 항목별 고지     meta.disclaimer: 응답 단위 고지</a:t>
            </a:r>
          </a:p>
        </p:txBody>
      </p:sp>
      <p:sp>
        <p:nvSpPr>
          <p:cNvPr id="25" name="p18-structure-note">
            <a:extLst xmlns:a="http://schemas.openxmlformats.org/drawingml/2006/main">
              <a:ext uri="{FF2B5EF4-FFF2-40B4-BE49-F238E27FC236}">
                <a16:creationId xmlns:a16="http://schemas.microsoft.com/office/drawing/2014/main" id="{7107835D-D648-4625-BA82-446CD44C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00725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출처와 고지가 없는 데이터는 화면에 노출되지 않습니다. 본 서비스는 금융상품 권유나 투자 자문을 제공하지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736598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lide-19-number">
            <a:extLst xmlns:a="http://schemas.openxmlformats.org/drawingml/2006/main">
              <a:ext uri="{FF2B5EF4-FFF2-40B4-BE49-F238E27FC236}">
                <a16:creationId xmlns:a16="http://schemas.microsoft.com/office/drawing/2014/main" id="{59963C22-A297-43A7-9857-0AED4A3A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2" name="slide-19-head-rule">
            <a:extLst xmlns:a="http://schemas.openxmlformats.org/drawingml/2006/main">
              <a:ext uri="{FF2B5EF4-FFF2-40B4-BE49-F238E27FC236}">
                <a16:creationId xmlns:a16="http://schemas.microsoft.com/office/drawing/2014/main" id="{3D72B2AB-D0FD-4380-9E38-1ECC6A8F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3" name="slide-19-title">
            <a:extLst xmlns:a="http://schemas.openxmlformats.org/drawingml/2006/main">
              <a:ext uri="{FF2B5EF4-FFF2-40B4-BE49-F238E27FC236}">
                <a16:creationId xmlns:a16="http://schemas.microsoft.com/office/drawing/2014/main" id="{6C5AB71B-E685-4BB8-B1D4-52A55FF7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5275"/>
            <a:ext cx="9982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금융기관 적용 범위와 확장 순서</a:t>
            </a:r>
          </a:p>
        </p:txBody>
      </p:sp>
      <p:sp>
        <p:nvSpPr>
          <p:cNvPr id="4" name="slide-19-subtitle">
            <a:extLst xmlns:a="http://schemas.openxmlformats.org/drawingml/2006/main">
              <a:ext uri="{FF2B5EF4-FFF2-40B4-BE49-F238E27FC236}">
                <a16:creationId xmlns:a16="http://schemas.microsoft.com/office/drawing/2014/main" id="{00E638EE-6FD8-419B-BED1-698A309F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28675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주택금융 상담의 사전 진단 도구로 시작해 데이터, 상품, 사후 관리 범위를 단계적으로 넓힙니다</a:t>
            </a:r>
          </a:p>
        </p:txBody>
      </p:sp>
      <p:sp>
        <p:nvSpPr>
          <p:cNvPr id="5" name="slide-19-footer-rule">
            <a:extLst xmlns:a="http://schemas.openxmlformats.org/drawingml/2006/main">
              <a:ext uri="{FF2B5EF4-FFF2-40B4-BE49-F238E27FC236}">
                <a16:creationId xmlns:a16="http://schemas.microsoft.com/office/drawing/2014/main" id="{8F68A8E6-47F4-4702-BFBD-20057868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6" name="slide-19-footer-left">
            <a:extLst xmlns:a="http://schemas.openxmlformats.org/drawingml/2006/main">
              <a:ext uri="{FF2B5EF4-FFF2-40B4-BE49-F238E27FC236}">
                <a16:creationId xmlns:a16="http://schemas.microsoft.com/office/drawing/2014/main" id="{0CA46779-7DBF-4A3F-851B-E0CF8F22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0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Home_Compass   2026 금융 AI Challenge</a:t>
            </a:r>
          </a:p>
        </p:txBody>
      </p:sp>
      <p:sp>
        <p:nvSpPr>
          <p:cNvPr id="7" name="slide-19-footer-right">
            <a:extLst xmlns:a="http://schemas.openxmlformats.org/drawingml/2006/main">
              <a:ext uri="{FF2B5EF4-FFF2-40B4-BE49-F238E27FC236}">
                <a16:creationId xmlns:a16="http://schemas.microsoft.com/office/drawing/2014/main" id="{78E7A9A0-C860-4A96-9C71-AE054148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5246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defRPr>
            </a:pPr>
            <a:r>
              <a:rPr sz="825" b="1">
                <a:solidFill>
                  <a:srgbClr val="9AA0A5"/>
                </a:solidFill>
                <a:latin typeface="맑은 고딕"/>
                <a:ea typeface="맑은 고딕"/>
                <a:cs typeface="맑은 고딕"/>
              </a:rPr>
              <a:t>19 / 19</a:t>
            </a:r>
          </a:p>
        </p:txBody>
      </p:sp>
      <p:sp>
        <p:nvSpPr>
          <p:cNvPr id="8" name="p19-impact-num-0">
            <a:extLst xmlns:a="http://schemas.openxmlformats.org/drawingml/2006/main">
              <a:ext uri="{FF2B5EF4-FFF2-40B4-BE49-F238E27FC236}">
                <a16:creationId xmlns:a16="http://schemas.microsoft.com/office/drawing/2014/main" id="{57ED1CE8-B472-41A5-B312-5D9A3DB8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p19-impact-head-0">
            <a:extLst xmlns:a="http://schemas.openxmlformats.org/drawingml/2006/main">
              <a:ext uri="{FF2B5EF4-FFF2-40B4-BE49-F238E27FC236}">
                <a16:creationId xmlns:a16="http://schemas.microsoft.com/office/drawing/2014/main" id="{6A1DEB45-F386-4CE8-98A4-D8C3CC46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주택금융 접점</a:t>
            </a:r>
          </a:p>
        </p:txBody>
      </p:sp>
      <p:sp>
        <p:nvSpPr>
          <p:cNvPr id="10" name="p19-impact-copy-0">
            <a:extLst xmlns:a="http://schemas.openxmlformats.org/drawingml/2006/main">
              <a:ext uri="{FF2B5EF4-FFF2-40B4-BE49-F238E27FC236}">
                <a16:creationId xmlns:a16="http://schemas.microsoft.com/office/drawing/2014/main" id="{54457A4D-34F7-46A2-848D-C89D8199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첫 주거를 준비하는 고객이 상담 전에 감당 가능한 범위와 정책 자격을 확인합니다.</a:t>
            </a:r>
          </a:p>
        </p:txBody>
      </p:sp>
      <p:sp>
        <p:nvSpPr>
          <p:cNvPr id="11" name="p19-impact-sep-0">
            <a:extLst xmlns:a="http://schemas.openxmlformats.org/drawingml/2006/main">
              <a:ext uri="{FF2B5EF4-FFF2-40B4-BE49-F238E27FC236}">
                <a16:creationId xmlns:a16="http://schemas.microsoft.com/office/drawing/2014/main" id="{C0F646A3-78EB-4B82-9BC1-DD4443AF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43050"/>
            <a:ext cx="0" cy="1600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2" name="p19-impact-num-1">
            <a:extLst xmlns:a="http://schemas.openxmlformats.org/drawingml/2006/main">
              <a:ext uri="{FF2B5EF4-FFF2-40B4-BE49-F238E27FC236}">
                <a16:creationId xmlns:a16="http://schemas.microsoft.com/office/drawing/2014/main" id="{9FC6CCC4-2FBE-4358-AE8C-6133FED7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43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p19-impact-head-1">
            <a:extLst xmlns:a="http://schemas.openxmlformats.org/drawingml/2006/main">
              <a:ext uri="{FF2B5EF4-FFF2-40B4-BE49-F238E27FC236}">
                <a16:creationId xmlns:a16="http://schemas.microsoft.com/office/drawing/2014/main" id="{0A2B7F14-0B7A-4C6B-8119-DD0F4715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05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상담 근거</a:t>
            </a:r>
          </a:p>
        </p:txBody>
      </p:sp>
      <p:sp>
        <p:nvSpPr>
          <p:cNvPr id="14" name="p19-impact-copy-1">
            <a:extLst xmlns:a="http://schemas.openxmlformats.org/drawingml/2006/main">
              <a:ext uri="{FF2B5EF4-FFF2-40B4-BE49-F238E27FC236}">
                <a16:creationId xmlns:a16="http://schemas.microsoft.com/office/drawing/2014/main" id="{86A4D45C-35DD-4BF5-9972-86C4FB89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241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판정 결과와 이유를 함께 남겨 상담원이 같은 기준으로 설명할 수 있습니다.</a:t>
            </a:r>
          </a:p>
        </p:txBody>
      </p:sp>
      <p:sp>
        <p:nvSpPr>
          <p:cNvPr id="15" name="p19-impact-sep-1">
            <a:extLst xmlns:a="http://schemas.openxmlformats.org/drawingml/2006/main">
              <a:ext uri="{FF2B5EF4-FFF2-40B4-BE49-F238E27FC236}">
                <a16:creationId xmlns:a16="http://schemas.microsoft.com/office/drawing/2014/main" id="{C02B0000-682A-4903-A876-5B5964C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543050"/>
            <a:ext cx="0" cy="1600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4CC"/>
            </a:solidFill>
            <a:prstDash val="solid"/>
          </a:ln>
        </p:spPr>
      </p:sp>
      <p:sp>
        <p:nvSpPr>
          <p:cNvPr id="16" name="p19-impact-num-2">
            <a:extLst xmlns:a="http://schemas.openxmlformats.org/drawingml/2006/main">
              <a:ext uri="{FF2B5EF4-FFF2-40B4-BE49-F238E27FC236}">
                <a16:creationId xmlns:a16="http://schemas.microsoft.com/office/drawing/2014/main" id="{BB8D7944-F478-4A56-86E4-071AF431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43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p19-impact-head-2">
            <a:extLst xmlns:a="http://schemas.openxmlformats.org/drawingml/2006/main">
              <a:ext uri="{FF2B5EF4-FFF2-40B4-BE49-F238E27FC236}">
                <a16:creationId xmlns:a16="http://schemas.microsoft.com/office/drawing/2014/main" id="{4CC2765A-201F-49E3-A275-CDBE8DA0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도입 구조</a:t>
            </a:r>
          </a:p>
        </p:txBody>
      </p:sp>
      <p:sp>
        <p:nvSpPr>
          <p:cNvPr id="18" name="p19-impact-copy-2">
            <a:extLst xmlns:a="http://schemas.openxmlformats.org/drawingml/2006/main">
              <a:ext uri="{FF2B5EF4-FFF2-40B4-BE49-F238E27FC236}">
                <a16:creationId xmlns:a16="http://schemas.microsoft.com/office/drawing/2014/main" id="{09FB1D1E-AB3B-4E41-AD15-74540E3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241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0">
                <a:solidFill>
                  <a:srgbClr val="3F464D"/>
                </a:solidFill>
                <a:latin typeface="맑은 고딕"/>
                <a:ea typeface="맑은 고딕"/>
                <a:cs typeface="맑은 고딕"/>
              </a:rPr>
              <a:t>엔진과 LLM 연결을 분리해 내부망 모델과 기관별 상품 카탈로그로 교체할 수 있습니다.</a:t>
            </a:r>
          </a:p>
        </p:txBody>
      </p:sp>
      <p:sp>
        <p:nvSpPr>
          <p:cNvPr id="19" name="p19-mid">
            <a:extLst xmlns:a="http://schemas.openxmlformats.org/drawingml/2006/main">
              <a:ext uri="{FF2B5EF4-FFF2-40B4-BE49-F238E27FC236}">
                <a16:creationId xmlns:a16="http://schemas.microsoft.com/office/drawing/2014/main" id="{F2BE9AE7-9751-4A2D-A046-8E5B61EB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DB9B0"/>
            </a:solidFill>
            <a:prstDash val="solid"/>
          </a:ln>
        </p:spPr>
      </p:sp>
      <p:sp>
        <p:nvSpPr>
          <p:cNvPr id="20" name="p19-roadmap-label">
            <a:extLst xmlns:a="http://schemas.openxmlformats.org/drawingml/2006/main">
              <a:ext uri="{FF2B5EF4-FFF2-40B4-BE49-F238E27FC236}">
                <a16:creationId xmlns:a16="http://schemas.microsoft.com/office/drawing/2014/main" id="{72F07A90-4CB5-4E28-B38F-ECF007A5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확장 순서</a:t>
            </a:r>
          </a:p>
        </p:txBody>
      </p:sp>
      <p:sp>
        <p:nvSpPr>
          <p:cNvPr id="21" name="p19-roadmap-base">
            <a:extLst xmlns:a="http://schemas.openxmlformats.org/drawingml/2006/main">
              <a:ext uri="{FF2B5EF4-FFF2-40B4-BE49-F238E27FC236}">
                <a16:creationId xmlns:a16="http://schemas.microsoft.com/office/drawing/2014/main" id="{04F0FEE2-5079-4AE5-9EF4-495000FF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84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B9B0"/>
            </a:solidFill>
            <a:prstDash val="solid"/>
          </a:ln>
        </p:spPr>
      </p:sp>
      <p:sp>
        <p:nvSpPr>
          <p:cNvPr id="22" name="p19-roadmap-node-0">
            <a:extLst xmlns:a="http://schemas.openxmlformats.org/drawingml/2006/main">
              <a:ext uri="{FF2B5EF4-FFF2-40B4-BE49-F238E27FC236}">
                <a16:creationId xmlns:a16="http://schemas.microsoft.com/office/drawing/2014/main" id="{16C894F2-9823-49F9-A91B-CBAF5CF5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1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3"/>
          </a:solidFill>
          <a:ln xmlns:a="http://schemas.openxmlformats.org/drawingml/2006/main" w="19050">
            <a:solidFill>
              <a:srgbClr val="B77913"/>
            </a:solidFill>
            <a:prstDash val="solid"/>
          </a:ln>
        </p:spPr>
      </p:sp>
      <p:sp>
        <p:nvSpPr>
          <p:cNvPr id="23" name="p19-roadmap-stage-0">
            <a:extLst xmlns:a="http://schemas.openxmlformats.org/drawingml/2006/main">
              <a:ext uri="{FF2B5EF4-FFF2-40B4-BE49-F238E27FC236}">
                <a16:creationId xmlns:a16="http://schemas.microsoft.com/office/drawing/2014/main" id="{EAB9CDD6-2B78-47CC-99BC-F159BFAC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현재</a:t>
            </a:r>
          </a:p>
        </p:txBody>
      </p:sp>
      <p:sp>
        <p:nvSpPr>
          <p:cNvPr id="24" name="p19-roadmap-head-0">
            <a:extLst xmlns:a="http://schemas.openxmlformats.org/drawingml/2006/main">
              <a:ext uri="{FF2B5EF4-FFF2-40B4-BE49-F238E27FC236}">
                <a16:creationId xmlns:a16="http://schemas.microsoft.com/office/drawing/2014/main" id="{8ED00E74-A64C-447D-AEE3-9F282E25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25" name="p19-roadmap-copy-0">
            <a:extLst xmlns:a="http://schemas.openxmlformats.org/drawingml/2006/main">
              <a:ext uri="{FF2B5EF4-FFF2-40B4-BE49-F238E27FC236}">
                <a16:creationId xmlns:a16="http://schemas.microsoft.com/office/drawing/2014/main" id="{EDAAAE19-7142-477B-B5D5-FC2D10A9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4대 엔진, 결과 화면, AI 상담</a:t>
            </a:r>
          </a:p>
        </p:txBody>
      </p:sp>
      <p:sp>
        <p:nvSpPr>
          <p:cNvPr id="26" name="p19-roadmap-node-1">
            <a:extLst xmlns:a="http://schemas.openxmlformats.org/drawingml/2006/main">
              <a:ext uri="{FF2B5EF4-FFF2-40B4-BE49-F238E27FC236}">
                <a16:creationId xmlns:a16="http://schemas.microsoft.com/office/drawing/2014/main" id="{7F046C04-0713-4F94-AC3C-BA0EE511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81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19050">
            <a:solidFill>
              <a:srgbClr val="BDB9B0"/>
            </a:solidFill>
            <a:prstDash val="solid"/>
          </a:ln>
        </p:spPr>
      </p:sp>
      <p:sp>
        <p:nvSpPr>
          <p:cNvPr id="27" name="p19-roadmap-stage-1">
            <a:extLst xmlns:a="http://schemas.openxmlformats.org/drawingml/2006/main">
              <a:ext uri="{FF2B5EF4-FFF2-40B4-BE49-F238E27FC236}">
                <a16:creationId xmlns:a16="http://schemas.microsoft.com/office/drawing/2014/main" id="{1FC058A3-8C40-4C54-B92B-A79E2620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33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다음</a:t>
            </a:r>
          </a:p>
        </p:txBody>
      </p:sp>
      <p:sp>
        <p:nvSpPr>
          <p:cNvPr id="28" name="p19-roadmap-head-1">
            <a:extLst xmlns:a="http://schemas.openxmlformats.org/drawingml/2006/main">
              <a:ext uri="{FF2B5EF4-FFF2-40B4-BE49-F238E27FC236}">
                <a16:creationId xmlns:a16="http://schemas.microsoft.com/office/drawing/2014/main" id="{DE6144D7-6AA3-4E2D-9F11-7FED146D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19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</p:txBody>
      </p:sp>
      <p:sp>
        <p:nvSpPr>
          <p:cNvPr id="29" name="p19-roadmap-copy-1">
            <a:extLst xmlns:a="http://schemas.openxmlformats.org/drawingml/2006/main">
              <a:ext uri="{FF2B5EF4-FFF2-40B4-BE49-F238E27FC236}">
                <a16:creationId xmlns:a16="http://schemas.microsoft.com/office/drawing/2014/main" id="{62235E90-2FC5-49F7-A9BF-FA783035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530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공신력 있는 시세와 정책 데이터</a:t>
            </a:r>
          </a:p>
        </p:txBody>
      </p:sp>
      <p:sp>
        <p:nvSpPr>
          <p:cNvPr id="30" name="p19-roadmap-node-2">
            <a:extLst xmlns:a="http://schemas.openxmlformats.org/drawingml/2006/main">
              <a:ext uri="{FF2B5EF4-FFF2-40B4-BE49-F238E27FC236}">
                <a16:creationId xmlns:a16="http://schemas.microsoft.com/office/drawing/2014/main" id="{28192D11-D636-4BA5-996E-88C403D2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81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19050">
            <a:solidFill>
              <a:srgbClr val="BDB9B0"/>
            </a:solidFill>
            <a:prstDash val="solid"/>
          </a:ln>
        </p:spPr>
      </p:sp>
      <p:sp>
        <p:nvSpPr>
          <p:cNvPr id="31" name="p19-roadmap-stage-2">
            <a:extLst xmlns:a="http://schemas.openxmlformats.org/drawingml/2006/main">
              <a:ext uri="{FF2B5EF4-FFF2-40B4-BE49-F238E27FC236}">
                <a16:creationId xmlns:a16="http://schemas.microsoft.com/office/drawing/2014/main" id="{33883650-5F07-4AD8-836A-1D8E6E5C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33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이후</a:t>
            </a:r>
          </a:p>
        </p:txBody>
      </p:sp>
      <p:sp>
        <p:nvSpPr>
          <p:cNvPr id="32" name="p19-roadmap-head-2">
            <a:extLst xmlns:a="http://schemas.openxmlformats.org/drawingml/2006/main">
              <a:ext uri="{FF2B5EF4-FFF2-40B4-BE49-F238E27FC236}">
                <a16:creationId xmlns:a16="http://schemas.microsoft.com/office/drawing/2014/main" id="{3B6D4AA5-8F93-4AFC-A025-B8EA0EC3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상품 연계</a:t>
            </a:r>
          </a:p>
        </p:txBody>
      </p:sp>
      <p:sp>
        <p:nvSpPr>
          <p:cNvPr id="33" name="p19-roadmap-copy-2">
            <a:extLst xmlns:a="http://schemas.openxmlformats.org/drawingml/2006/main">
              <a:ext uri="{FF2B5EF4-FFF2-40B4-BE49-F238E27FC236}">
                <a16:creationId xmlns:a16="http://schemas.microsoft.com/office/drawing/2014/main" id="{32E5BF42-D3B4-4074-A79B-61C2DF0D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기관별 주택금융 카탈로그와 내부망 모델</a:t>
            </a:r>
          </a:p>
        </p:txBody>
      </p:sp>
      <p:sp>
        <p:nvSpPr>
          <p:cNvPr id="34" name="p19-roadmap-node-3">
            <a:extLst xmlns:a="http://schemas.openxmlformats.org/drawingml/2006/main">
              <a:ext uri="{FF2B5EF4-FFF2-40B4-BE49-F238E27FC236}">
                <a16:creationId xmlns:a16="http://schemas.microsoft.com/office/drawing/2014/main" id="{255E5996-C0B6-4CB2-B9DC-B4612FCB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81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19050">
            <a:solidFill>
              <a:srgbClr val="BDB9B0"/>
            </a:solidFill>
            <a:prstDash val="solid"/>
          </a:ln>
        </p:spPr>
      </p:sp>
      <p:sp>
        <p:nvSpPr>
          <p:cNvPr id="35" name="p19-roadmap-stage-3">
            <a:extLst xmlns:a="http://schemas.openxmlformats.org/drawingml/2006/main">
              <a:ext uri="{FF2B5EF4-FFF2-40B4-BE49-F238E27FC236}">
                <a16:creationId xmlns:a16="http://schemas.microsoft.com/office/drawing/2014/main" id="{82C129E1-F22C-4274-86C2-756FF9F1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533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1">
                <a:solidFill>
                  <a:srgbClr val="B77913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36" name="p19-roadmap-head-3">
            <a:extLst xmlns:a="http://schemas.openxmlformats.org/drawingml/2006/main">
              <a:ext uri="{FF2B5EF4-FFF2-40B4-BE49-F238E27FC236}">
                <a16:creationId xmlns:a16="http://schemas.microsoft.com/office/drawing/2014/main" id="{5A5BB5A6-2976-456F-86FF-704ECC15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819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1">
                <a:solidFill>
                  <a:srgbClr val="161A1D"/>
                </a:solidFill>
                <a:latin typeface="맑은 고딕"/>
                <a:ea typeface="맑은 고딕"/>
                <a:cs typeface="맑은 고딕"/>
              </a:rPr>
              <a:t>사후 관리</a:t>
            </a:r>
          </a:p>
        </p:txBody>
      </p:sp>
      <p:sp>
        <p:nvSpPr>
          <p:cNvPr id="37" name="p19-roadmap-copy-3">
            <a:extLst xmlns:a="http://schemas.openxmlformats.org/drawingml/2006/main">
              <a:ext uri="{FF2B5EF4-FFF2-40B4-BE49-F238E27FC236}">
                <a16:creationId xmlns:a16="http://schemas.microsoft.com/office/drawing/2014/main" id="{33EE0C52-5883-4043-B53D-3C6AD558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1530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0">
                <a:solidFill>
                  <a:srgbClr val="6D747A"/>
                </a:solidFill>
                <a:latin typeface="맑은 고딕"/>
                <a:ea typeface="맑은 고딕"/>
                <a:cs typeface="맑은 고딕"/>
              </a:rPr>
              <a:t>계약 이후 주거비 모니터링과 갱신 시점 재판정</a:t>
            </a:r>
          </a:p>
        </p:txBody>
      </p:sp>
      <p:sp>
        <p:nvSpPr>
          <p:cNvPr id="38" name="p19-end">
            <a:extLst xmlns:a="http://schemas.openxmlformats.org/drawingml/2006/main">
              <a:ext uri="{FF2B5EF4-FFF2-40B4-BE49-F238E27FC236}">
                <a16:creationId xmlns:a16="http://schemas.microsoft.com/office/drawing/2014/main" id="{AC8636D5-128E-4EF4-95FA-BB3B0853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1">
                <a:solidFill>
                  <a:srgbClr val="18324A"/>
                </a:solidFill>
                <a:latin typeface="맑은 고딕"/>
                <a:ea typeface="맑은 고딕"/>
                <a:cs typeface="맑은 고딕"/>
              </a:rPr>
              <a:t>Home_Compass는 승인이나 판매를 대신하지 않습니다. 상담 전에 필요한 계산과 확인 항목을 같은 근거로 정리합니다.</a:t>
            </a:r>
          </a:p>
        </p:txBody>
      </p:sp>
    </p:spTree>
    <p:extLst>
      <p:ext uri="{BB962C8B-B14F-4D97-AF65-F5344CB8AC3E}">
        <p14:creationId xmlns:p14="http://schemas.microsoft.com/office/powerpoint/2010/main" val="16574165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2026-09-06T06:37:17.0150000Z</dcterms:created>
  <dcterms:modified xsi:type="dcterms:W3CDTF">2026-09-06T06:37:17.0150000Z</dcterms:modified>
</coreProperties>
</file>