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Donut 3"/>
          <p:cNvSpPr/>
          <p:nvPr/>
        </p:nvSpPr>
        <p:spPr>
          <a:xfrm>
            <a:off x="8732520" y="1874519"/>
            <a:ext cx="2651760" cy="2651760"/>
          </a:xfrm>
          <a:prstGeom prst="donut">
            <a:avLst>
              <a:gd name="adj" fmla="val 3000"/>
            </a:avLst>
          </a:prstGeom>
          <a:noFill/>
          <a:ln w="254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Isosceles Triangle 4"/>
          <p:cNvSpPr/>
          <p:nvPr/>
        </p:nvSpPr>
        <p:spPr>
          <a:xfrm rot="2280000">
            <a:off x="9784080" y="2395728"/>
            <a:ext cx="548640" cy="1188720"/>
          </a:xfrm>
          <a:prstGeom prst="triangle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" name="Isosceles Triangle 5"/>
          <p:cNvSpPr/>
          <p:nvPr/>
        </p:nvSpPr>
        <p:spPr>
          <a:xfrm rot="13080000">
            <a:off x="9784080" y="3310128"/>
            <a:ext cx="548640" cy="1188720"/>
          </a:xfrm>
          <a:prstGeom prst="triangle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2026 금융 AI Challenge  · 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Home_Compass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청년 주거 금융 의사결정 서비스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3310128"/>
            <a:ext cx="1371600" cy="45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“내가 지금 얼마짜리 집에 살아도 되는가”에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3분 만에 숫자로 답하고, 그 결정을 실행할 정책·금융상품까지 연결하는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청년 주거 금융 의사결정 에이전트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청년 주거 의사결정에서 반복되는 4가지 공백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정보는 넘치지만, “나에게 맞는 숫자”를 알려주는 곳은 없습니다.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감당 가능 주거비의 기준선이 없다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소득·자산·부채·가구원수를 넣으면 “월 얼마까지”가 나오는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개인화된 상한선을 제시하는 서비스가 드뭅니다.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결국 “남들 사는 정도”를 기준 삼아 계약합니다.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8132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전세 vs 월세를 월 납입액으로만 비교한다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보증금이 묶이며 발생하는 기회비용, 대출이자, 관리비,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보증보험료를 합산한 총비용(TCO) 관점 비교가 부재합니다.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“월세가 싸 보이는 착시”가 그대로 의사결정에 반영됩니다.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62763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정책·상품 정보가 흩어져 있다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연령·소득·자산·무주택·지역·재직요건이 제도마다 달라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청년이 직접 요건표를 대조해야 적격 여부를 알 수 있습니다.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“되는지 안 되는지” 확인에만 상당한 시간이 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6499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218688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01168" tIns="182880" bIns="146304" wrap="square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보증금 리스크를 계약 전에 수치로 못 본다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전세가율, 보증보험 가입 가능 여부 같은 위험 신호를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정량 점수로 확인할 수단이 일반 이용자에게는 부족합니다.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위험은 사후에, 사고가 난 뒤에 학습됩니다.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364992"/>
            <a:ext cx="68580" cy="1280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047488"/>
            <a:ext cx="11000232" cy="65836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데이터 정직성 원칙 : 본 장은 검증 불가한 통계 수치를 인용하지 않고, 공개된 제도 요건과 일반적 시장 관행에 근거해 문제를 정성적으로 기술했습니다.  (참고 성격 자료: 국토교통부 「주거실태조사」, 통계청 「인구주택총조사」)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815584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→ 네 가지 공백은 모두 “계산”으로 메울 수 있습니다. 그래서 챗봇이 아니라 판정 엔진을 만들었습니다.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AS-IS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기존 서비스의 한계 — 무엇이 빠져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네 가지 유형 모두 정보는 주지만, 개인화된 “판정”은 주지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상담형 챗봇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응답은 매끄럽지만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수치를 LLM이 직접 생성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환각·재현성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8425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대출 계산기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5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원리금 계산은 정확하지만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“감당 가능한가” 판단 없음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기준선 부재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포털·안내서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제도 목록은 충실하지만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개인 요건 대조는 사용자 몫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적격 판정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6557" y="1481328"/>
            <a:ext cx="2558034" cy="420624"/>
          </a:xfrm>
          <a:prstGeom prst="roundRect">
            <a:avLst>
              <a:gd name="adj" fmla="val 1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부동산 시세 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6557" y="1901952"/>
            <a:ext cx="2558034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시세·매물은 풍부하지만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재무 관점 해석이 없음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→ 총비용 비교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00400"/>
            <a:ext cx="11000232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공통 공백 :  “정보 제공”은 있으나 “내 상황에 대한 판정”이 없다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88736" y="3803904"/>
            <a:ext cx="402336" cy="384048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97680"/>
            <a:ext cx="11000232" cy="14630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10896" rIns="274320" tIns="182880" bIns="14630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TO-BE  ·  Home_Compass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감당 가능 월주거비 상한을 숫자로 판정하고  ② 전세·월세를 총비용(TCO)과 현재가치(NPV)로 비교하며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제도별 적격 여부를 사유와 함께 판정하고  ④ 보증금 리스크를 0~100점으로 계량합니다.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모든 숫자는 결정론적 엔진이 계산하고, LLM은 그 결과를 설명하는 역할만 맡습니다.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88736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추천(Recommendation)에서 판정(Assessment)으로 — 이것이 본 과제의 출발점입니다.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서비스 개요 — Home_Compass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프로필 입력 3분 → 지불능력·시나리오·정책·리스크를 한 화면에서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0896" rIns="274320" tIns="10972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“내가 지금 얼마짜리 집에 살아도 되는가”에 3분 만에 숫자로 답하고,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그 결정을 실행할 정책·금융상품까지 연결하는 청년 주거 금융 의사결정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프로필 입력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연소득 · 월 실수령액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보유 현금성 자산 · 기존 부채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· 희망 지역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/ 신혼 / 재직 요건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83813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3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4대 엔진 판정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E1 지불능력 상한 산출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E2 정책 적격성 룰 평가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E3 전월세 총비용·NPV 비교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E4 보증금 리스크 계량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4165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39027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4788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결과 대시보드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감당가능 주거비 상한·권장액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 비교 카드 · 적합도 점수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적격 정책 리스트 + 판정 사유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9379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94242" y="3255264"/>
            <a:ext cx="310896" cy="310896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0002" y="2523744"/>
            <a:ext cx="2434589" cy="1792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AI 상담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후속 질문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결과를 근거로 설명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숫자는 재계산하지 않음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4594" y="268833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판정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 가능 월주거비 상한 / 권장액 / 산출 내역 / safe·caution·risk 밴드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비교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5년 총비용, NPV, 월환산비용, 슈바베지수, 적합도 점수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8" y="4517136"/>
            <a:ext cx="348386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연결 결과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적격 정책·상품 목록과 제도별 판정 사유, 보증금 리스크 점수(0~100)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797296"/>
            <a:ext cx="1100023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모든 출력에는 rationale(판정 근거 문자열) 배열이 함께 반환되어, 화면과 답변에서 근거를 그대로 확인할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핵심 차별점 — 추천하지 않고 판정합니다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“단순 청년 전세대출 추천 챗봇”과 구조적으로 다른 네 가지 설계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추천이 아니라 판정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감당 가능 주거비 상한을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재무적으로 계산해 제시합니다.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“이 상품 어때요”가 아니라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“당신은 월 OO만원까지”로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답하는 방식입니다.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2997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총비용·현재가치 비교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기회비용까지 반영한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5년 TCO·NPV로 비교합니다.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 납입액 착시를 제거하고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전세와 월세를 하나의 잣대로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줄 세웁니다.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2997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4165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모든 판정에 근거 동반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함수는 예외 없이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rationale: list[str] 반환.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화면·답변·API 응답 어디서나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이유를 추적할 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있습니다. (XAI)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2803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0274" y="1481328"/>
            <a:ext cx="2544318" cy="2596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658368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판정 분리 + 벤더 비종속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LLM은 자연어 인터페이스이고,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핵심 판정 수치는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결정론적 엔진이 계산합니다.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프로바이더는 교체 가능하고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키가 없어도 동작합니다.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0274" y="1481328"/>
            <a:ext cx="2544318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1442" y="1719072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D4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97680"/>
            <a:ext cx="11000232" cy="1389888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92608" rIns="256032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설계 원칙 한 줄 요약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숫자는 코드가 계산하고(결정론), 말은 모델이 하고(자연어), 근거는 항상 함께 반환한다(설명가능성).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 원칙 때문에 동일 입력에 대해 항상 동일한 판정이 재현되며, 심사·감사·상담 기록으로 그대로 활용할 수 있습니다.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또한 LLM 호출이 불가능한 환경에서도 판정 결과가 동일하게 산출되어, 시연·심사 환경에 대한 의존도가 낮습니다.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15584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→ 대부분의 유사 과제가 “상담 챗봇”에 머무는 지점에서, 우리는 재현 가능한 판정 엔진을 만들었습니다.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4계층 구조 — 클라이언트 / API / 결정론적 판정 엔진 / 데이터, 그리고 교체 가능한 LLM 프로바이더 추상화 계층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207008" cy="841248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L1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클라이언트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536" y="1371600"/>
            <a:ext cx="9592055" cy="841248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6856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프로필 입력 폼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나이·소득·자산·부채·지역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결과 대시보드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인라인 SVG 비교 차트·카드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5" y="1508760"/>
            <a:ext cx="2843783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AI 상담 채팅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자연어 후속 질의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111556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Vanilla HTML / CSS / JS  ·  빌드툴·CDN 없음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88736" y="228600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HTTP / JSON  ·  fetch()  ·  백엔드 미기동 시 생성물 기반 로컬 판정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33472"/>
            <a:ext cx="1207008" cy="768096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L2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API 계층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02536" y="2633472"/>
            <a:ext cx="9592055" cy="768096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E8EDF3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7249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FastAPI  ·  main.py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30358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동일 오리진 서빙 · 쿠키 세션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85816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GET /api/health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67144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GET /api/regions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48472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POST /api/analyze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834640"/>
            <a:ext cx="1362456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POST /api/chat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3209544"/>
            <a:ext cx="5806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시민 판정 경로 4종  ·  계약 전체는 18종 (인증 3 · 규칙관리 9 · meta 1 포함)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931920" y="347472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Down Arrow 26"/>
          <p:cNvSpPr/>
          <p:nvPr/>
        </p:nvSpPr>
        <p:spPr>
          <a:xfrm>
            <a:off x="7863840" y="3474720"/>
            <a:ext cx="384048" cy="274320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22191"/>
            <a:ext cx="1207008" cy="118872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L3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엔진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02536" y="3822191"/>
            <a:ext cx="6345935" cy="1188720"/>
          </a:xfrm>
          <a:prstGeom prst="roundRect">
            <a:avLst>
              <a:gd name="adj" fmla="val 5000"/>
            </a:avLst>
          </a:prstGeom>
          <a:solidFill>
            <a:srgbClr val="FFF4D6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4D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03704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E1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주거지불능력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Affordability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21608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E2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 적격성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Eligibility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9512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E3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총비용·NPV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TCO / NPV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57415" y="3986783"/>
            <a:ext cx="1389887" cy="859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E4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보증금 리스크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Risk Scanner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03704" y="5029199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순수 함수 · 동일 입력 → 동일 출력 · 모든 반환값에 rationale 포함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04503" y="3822191"/>
            <a:ext cx="2990088" cy="1188720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7" y="3904487"/>
            <a:ext cx="2715768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A1  LLM 프로바이더 추상화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39" y="4169663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① OpenAI function calling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39" y="4434840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Anthropic tool 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39" y="4700016"/>
            <a:ext cx="2441448" cy="2286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9144" bIns="914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룰 기반 결정론적 폴백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60535" y="4187952"/>
            <a:ext cx="0" cy="676655"/>
          </a:xfrm>
          <a:prstGeom prst="line">
            <a:avLst/>
          </a:prstGeom>
          <a:ln w="1778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04503" y="5029199"/>
            <a:ext cx="30815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키 미설정·호출 실패 시 자동 강등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8348471" y="4297679"/>
            <a:ext cx="256032" cy="0"/>
          </a:xfrm>
          <a:prstGeom prst="line">
            <a:avLst/>
          </a:prstGeom>
          <a:ln w="2032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48471" y="4572000"/>
            <a:ext cx="256032" cy="0"/>
          </a:xfrm>
          <a:prstGeom prst="line">
            <a:avLst/>
          </a:prstGeom>
          <a:ln w="20320">
            <a:solidFill>
              <a:srgbClr val="2B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wn Arrow 43"/>
          <p:cNvSpPr/>
          <p:nvPr/>
        </p:nvSpPr>
        <p:spPr>
          <a:xfrm>
            <a:off x="5888736" y="5102352"/>
            <a:ext cx="384048" cy="256032"/>
          </a:xfrm>
          <a:prstGeom prst="down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431536"/>
            <a:ext cx="1207008" cy="71323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L4</a:t>
            </a:r>
          </a:p>
          <a:p>
            <a:pPr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02536" y="5431536"/>
            <a:ext cx="9592055" cy="71323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76856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저장소 (SQLite)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판정이 읽는 곳 · 지역 10 · 규칙 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4000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data/*.json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저장소를 채우는 시드 입력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1144" y="5541264"/>
            <a:ext cx="2929128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source / 고지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정책 항목마다 출처·고지 필드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4대 엔진 처리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지불능력 상한을 먼저 확정한 뒤, 그 상한을 제약조건으로 정책·시나리오·리스크를 평가합니다.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40864"/>
            <a:ext cx="2331720" cy="148132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프로필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나이 · 연소득 · 월 실수령액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자산 · 기존부채 · 가구원수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희망지역 · 무주택 · 재직요건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80944" y="2944368"/>
            <a:ext cx="347472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340864"/>
            <a:ext cx="24231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E1  주거지불능력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감당 가능 월주거비 상한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권장 주거비 · 산출 내역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safe / caution / risk 밴드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이후 모든 판정의 제약조건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861303" y="2066543"/>
            <a:ext cx="365761" cy="1014985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61303" y="3081528"/>
            <a:ext cx="365761" cy="1051559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517904"/>
            <a:ext cx="2514600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E2  정책·상품 적격성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제도별 eligible / conditional /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ineligible + 판정 사유 배열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84448"/>
            <a:ext cx="2514600" cy="1097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E3  전월세 총비용 비교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5년 TCO · NPV ·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월환산비용 · 적합도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4436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병렬 평가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14815" y="2066543"/>
            <a:ext cx="365761" cy="850393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814815" y="3246120"/>
            <a:ext cx="365761" cy="886967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2340864"/>
            <a:ext cx="235915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46304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E4  보증금 리스크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위험 점수 0~100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low / medium / high 밴드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위험요인별 영향도 목록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적합도 1위 안의 보증금에 적용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15016" y="3822191"/>
            <a:ext cx="0" cy="841249"/>
          </a:xfrm>
          <a:prstGeom prst="line">
            <a:avLst/>
          </a:prstGeom>
          <a:ln w="25400">
            <a:solidFill>
              <a:srgbClr val="FFB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4718304"/>
            <a:ext cx="7863840" cy="1115568"/>
          </a:xfrm>
          <a:prstGeom prst="roundRect">
            <a:avLst>
              <a:gd name="adj" fmla="val 7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19456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OUTPUT  ·  종합 판정 리포트  (POST /api/analyze 단일 응답)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affordability · scenarios[] · policies[] · risk · summary · meta · internal (상담원 로그인 시)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블록에 rationale / reasons / factors 배열이 함께 담겨 판정 근거를 그대로 추적할 수 있습니다.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229600" y="513892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50224" y="4718304"/>
            <a:ext cx="2944368" cy="1115568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A1  LLM 프로바이더 추상화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 결과를 근거로 자연어 설명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숫자 재계산 없음 (POST /api/chat)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E1 · 주거지불능력 엔진 (Affordability)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“월 얼마까지 감당 가능한가”를 가처분소득 기반으로 판정합니다.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E1  ·  주거지불능력 엔진  (Affordability)   —   감당 가능 월주거비 상한과 권장액을 산출하는 기준선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 실수령액 (monthlyNetIncomeKRW)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연소득 (annualIncomeKRW)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기존 부채 월 상환액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(householdSize)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비율상한 = 가처분소득 × 상한비율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잔여여력 = 소득 − 생활비 − 부채 − 버퍼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상한 = 두 값 중 작은 쪽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권장액 = 상한 × 안전마진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maxMonthlyHousingCostKRW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recommendedMonthlyHousingCostKRW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breakdown (항목별 분해)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band · rationale[]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747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판정 밴드 — 상한÷소득(cap_ratio)과 부채÷소득(debt_ratio) 두 축으로 판정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03904"/>
            <a:ext cx="2269540" cy="420624"/>
          </a:xfrm>
          <a:prstGeom prst="roundRect">
            <a:avLst>
              <a:gd name="adj" fmla="val 2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70248"/>
            <a:ext cx="22695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여유 있음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0476" y="3803904"/>
            <a:ext cx="2202789" cy="420624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caution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0476" y="4270248"/>
            <a:ext cx="220278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점검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39842" y="3803904"/>
            <a:ext cx="2202789" cy="420624"/>
          </a:xfrm>
          <a:prstGeom prst="roundRect">
            <a:avLst>
              <a:gd name="adj" fmla="val 2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9842" y="4270248"/>
            <a:ext cx="220278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과부담 위험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749039"/>
            <a:ext cx="4096512" cy="89611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breakdown 반환 항목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netIncome · livingCost · existingDebt · buffer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→ 상한이 왜 그 값인지 항목별로 분해합니다.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09744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“소득 대비 비율보다 실제 잔여 여력이 더 빠듯해, 잔여 여력 기준으로 상한을 86만원으로 확정했습니다.”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“소득 대비 주거비 여력이 안정적인 구간입니다.”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8873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경계값(소득 0원, 부채 과다, 고소득) 케이스는 pytest 단위 테스트로 검증합니다.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E2 · 정책·상품 적격성 룰엔진 (Eligibility)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제도별 요건을 순차 평가해 적격 여부와 그 사유를 함께 반환합니다.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09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E2  ·  정책·상품 적격성 룰엔진  (Eligibility)   —   LLM 추론이 아닌 명시적 규칙으로 적격 여부를 판정하는 룰엔진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연소득 · 보유자산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여부 (isHomeless)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희망 지역코드 · 신혼 여부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중소기업 재직 여부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저장소의 승인된 규칙(RuleVersion)을 순차 평가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전부 충족 → eligible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일부 미확인·조건부 → conditional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명확한 미충족 → ineligible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status (3값) · reasons[]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maxAmountKRW · rateRangePct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source (출처 기관명)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disclaimer (고지 문구)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56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평가 규칙 항목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연령 요건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2228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소득 요건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10097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자산 요건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7965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무주택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5834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지역 요건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3702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재직 요건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1571" y="3767328"/>
            <a:ext cx="816428" cy="384048"/>
          </a:xfrm>
          <a:prstGeom prst="roundRect">
            <a:avLst>
              <a:gd name="adj" fmla="val 24000"/>
            </a:avLst>
          </a:prstGeom>
          <a:solidFill>
            <a:srgbClr val="E8EDF3"/>
          </a:solidFill>
          <a:ln w="12700">
            <a:solidFill>
              <a:srgbClr val="1F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혼인 요건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31152" y="3822191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eligible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전부 충족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08720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conditional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추가 확인 필요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7376" y="3694176"/>
            <a:ext cx="1347215" cy="530352"/>
          </a:xfrm>
          <a:prstGeom prst="roundRect">
            <a:avLst>
              <a:gd name="adj" fmla="val 1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ineligible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요건 미충족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34256"/>
            <a:ext cx="11000232" cy="4572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판정은 항상 사유와 1:1로 대응합니다 — reasons[] 길이가 0인 판정은 반환하지 않습니다.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882896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“만 19~34세 요건 충족 (28세) · 연소득 5,000만원 이하 충족 (4,200만원)”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“주택 유형·전세가율·선순위 채권 규모에 따라 보증 가입이 제한될 수 있습니다.”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94360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정책 요건은 공개된 일반 기준 수준으로만 기술하며, 구체적 금리·한도 수치는 예시값으로 명시합니다. (18장 참조)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E3 · 전월세 총비용 비교 엔진 (TCO / NPV)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월 납입액이 아니라 5년 총비용과 현재가치로 시나리오를 동일 기준 비교합니다.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10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E3  ·  전월세 총비용 비교 엔진  (TCO / NPV)   —   보증금 기회비용까지 반영해 전세·월세를 하나의 잣대로 세우는 비교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(depositKRW)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월세 · 관리비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대출금액 · 대출금리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보유 자산 · 비교 기간(5년)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비용 구성요소를 월 단위로 전개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5년 누적 → tco5yKRW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할인율 적용 → npv5yKRW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E1 상한과 대조 → verdict·fitScore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monthlyEquivalentCostKRW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tco5yKRW · npv5yKRW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components (항목별 분해)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fitScore · verdict · rationale[]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총비용 구성요소 — 월세만 보면 보이지 않는 항목들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67328"/>
            <a:ext cx="1335024" cy="457200"/>
          </a:xfrm>
          <a:prstGeom prst="roundRect">
            <a:avLst>
              <a:gd name="adj" fmla="val 1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대출이자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56816" y="3767328"/>
            <a:ext cx="1468526" cy="457200"/>
          </a:xfrm>
          <a:prstGeom prst="roundRect">
            <a:avLst>
              <a:gd name="adj" fmla="val 1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2774" y="3767328"/>
            <a:ext cx="1068019" cy="457200"/>
          </a:xfrm>
          <a:prstGeom prst="roundRect">
            <a:avLst>
              <a:gd name="adj" fmla="val 10000"/>
            </a:avLst>
          </a:prstGeom>
          <a:solidFill>
            <a:srgbClr val="70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48225" y="3767328"/>
            <a:ext cx="1735531" cy="4572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보증금 기회비용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1188" y="3767328"/>
            <a:ext cx="1068019" cy="45720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보증보험료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7939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※ 막대 길이는 구성요소를 설명하기 위한 도식이며, 실제 비중은 입력값에 따라 계산됩니다.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438144"/>
            <a:ext cx="4096512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핵심 아이디어 — 기회비용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 보증금은 “사라지는 돈”은 아니지만,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기간 동안 다른 곳에 쓰일 수 없습니다.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이 묶임 비용을 총비용에 포함해야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전세와 월세를 공정하게 비교할 수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846320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“보증금에 묶이는 자기자본 5,500만원의 기회비용을 연 3.3%로 계산해 897만원을 총비용에 포함했습니다. 보증금 자체는 계약 종료 시 돌려받으므로 비용이 아닙니다.”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“월 환산비용이 권장액 73만원은 넘지만 상한 86만원 이내여서 무리하면 가능한 구간입니다.”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90702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비교 기간과 할인율은 화면에서 확인 가능한 가정값으로 노출하며, 가정을 바꾸면 결과도 함께 갱신됩니다.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ENGINE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E4 · 전세보증금 리스크 스캐너 (Risk)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계약 전에 확인 가능한 위험 신호를 0~100점으로 계량해 보여줍니다.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E4  ·  전세보증금 리스크 스캐너  (Risk Scanner)   —   위험을 사후 학습이 아니라 계약 전 숫자로 확인하게 하는 스캐너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(depositKRW)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 (jeonseRatioPct)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대출금액 · 보증보험 가입 가능 여부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지역 시장 위험도 (marketRisk)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위험요인별 값을 정규화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요인별 가중치 적용 후 합산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0~100 점수로 스케일링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low / medium / high 밴드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score (0~100)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band (low / medium / high)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factors[] : name · valuePct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factors[].impact · note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42032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위험 점수 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9039"/>
            <a:ext cx="2670048" cy="402336"/>
          </a:xfrm>
          <a:prstGeom prst="roundRect">
            <a:avLst>
              <a:gd name="adj" fmla="val 20000"/>
            </a:avLst>
          </a:prstGeom>
          <a:solidFill>
            <a:srgbClr val="E4F1EB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low  0–34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0984" y="3749039"/>
            <a:ext cx="2002536" cy="402336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524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medium  35–64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3749039"/>
            <a:ext cx="2002536" cy="402336"/>
          </a:xfrm>
          <a:prstGeom prst="roundRect">
            <a:avLst>
              <a:gd name="adj" fmla="val 20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high  65–100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97096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※ 경계값의 정본은 상수 레지스트리(model_constants)이며, 실제 심사 기준과는 무관합니다.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전세가율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47672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보증보험 가입 가능성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0984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내 대출 비중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54296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보증금 규모 (상한 대비)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4443984"/>
            <a:ext cx="1261872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지역 임대차 시장 여건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438144"/>
            <a:ext cx="4096512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설계 의도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점수는 “안전 보증”이 아니라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“확인해야 할 항목의 우선순위”입니다.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각 요인에 impact(low/medium/high)와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note를 붙여 점검 항목을 안내합니다.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19472"/>
            <a:ext cx="11000232" cy="969264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09728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rationale 예시  (아래 문자열은 엔진이 실제로 반환하는 판정 근거의 형식 예시입니다)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“서울 마포구 기준 보증금 2억 8,000만원에 대한 위험 점수는 100점 만점에 32점(low)입니다.”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“가장 큰 위험 요인은 '보증금 내 대출 비중'입니다: 보증금의 70% 이상이 대출로, 보증금 사고 시 부채만 남을 위험이 있습니다.”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8017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본 엔진은 법적·계약적 안전을 보증하지 않으며, 계약 전 점검 항목을 우선순위화하는 참고 지표입니다.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LLM ABSTRACTION &amp;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A1 · LLM 프로바이더 추상화와 판정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LLM은 엔진 결과를 설명하고 핵심 판정 수치는 엔진이 계산합니다.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질문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“전세랑 월세 중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뭐가 나아?”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3744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추상화 계층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프로바이더 선택 ·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도구 스키마 변환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00599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72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E1~E4 결정론적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함수 호출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77455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엔진 반환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숫자 + rationale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(판정 정본)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1" y="1755648"/>
            <a:ext cx="310896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1408176"/>
            <a:ext cx="1892807" cy="969264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28016" tIns="109728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 생성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도구 결과를 바탕으로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문장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68880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① LLM 프로바이더 추상화 — 3단 폴백 구조 (동일한 도구 정의를 프로바이더별 규격으로 변환)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778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OpenAI function calling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tools 스키마로 E1~E4를 노출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OPENAI_API_KEY 설정 시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1순위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8288" y="292608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실패 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56303" y="3200400"/>
            <a:ext cx="42062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0080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7780">
            <a:solidFill>
              <a:srgbClr val="707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Anthropic tool use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도구 정의를 자동 변환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ANTHROPIC_API_KEY 설정 시 사용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2960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70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2순위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4007" y="2926080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실패 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12024" y="3200400"/>
            <a:ext cx="42062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5799" y="2743200"/>
            <a:ext cx="3288791" cy="1152144"/>
          </a:xfrm>
          <a:prstGeom prst="roundRect">
            <a:avLst>
              <a:gd name="adj" fmla="val 6000"/>
            </a:avLst>
          </a:prstGeom>
          <a:solidFill>
            <a:srgbClr val="E4F1EB"/>
          </a:solidFill>
          <a:ln w="1778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84048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룰 기반 결정론적 폴백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 없음·호출 실패 시 자동 전환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결과를 템플릿 문장으로 반환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8679" y="28712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3순위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986784"/>
            <a:ext cx="11000232" cy="621792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201168" tIns="91440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강점 : 특정 벤더에 종속되지 않으며, 금융권 도입 시 내부망 전용 모델로 프로바이더만 교체하면 됩니다.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키가 하나도 없어도 3순위 폴백으로 핵심 판정 기능은 100% 동작합니다. (graceful degradation)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8172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② 답변 오류 위험을 줄이는 3중 장치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G1  핵심 수치 계산 분리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금액·비율·점수는 엔진이 계산하고,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모델에는 도구 반환값 사용을 지시합니다.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2544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G2  근거 문자열 동반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엔진이 rationale을 반환하고,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프롬프트가 그 근거 사용을 지시합니다.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0728" y="4956048"/>
            <a:ext cx="3483864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28016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G3  판정 경로 재현성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어느 제공자를 쓰더라도 핵심 판정은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같은 결정론적 엔진이 계산합니다.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43600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응답에는 reply · toolCalls[] · mode · provider가 함께 담겨, 어떤 프로바이더가 어떤 도구를 왜 호출했는지 검증할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RULE EXTRACTION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정책 규칙 추출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공고문 원문에서 규칙을 뽑되, 근거가 원문에 없으면 그 초안을 통째로 버립니다.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26464"/>
            <a:ext cx="11000232" cy="512064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01168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  ·  정책 규칙 추출  (Extraction)   —   LLM 이 뽑고, 검증기가 원문과 대조하고, 사람이 승인해야 판정에 들어간다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1168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공고문 원문 (policy_source)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이용조건 · 출처표시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식별자 · 조회 시점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원문은 코드포인트로 다룬다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① LLM 이 초안 + 근거 span 제안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② 검증기가 인용을 원문과 대조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③ 하나라도 어긋나면 전체 폐기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④ 통과분만 pending 으로 적재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11680"/>
            <a:ext cx="313639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384048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rule_draft (pending) + span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 시 extraction_failed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감사기록에 시도 · 지연 · 사유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아직 판정에 들어가지 않는다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13969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OUTPUT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95344" y="2574036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ight Arrow 16"/>
          <p:cNvSpPr/>
          <p:nvPr/>
        </p:nvSpPr>
        <p:spPr>
          <a:xfrm>
            <a:off x="7964424" y="2574036"/>
            <a:ext cx="365760" cy="292608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이 파이프라인의 요지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40480"/>
            <a:ext cx="5358384" cy="1335024"/>
          </a:xfrm>
          <a:prstGeom prst="roundRect">
            <a:avLst>
              <a:gd name="adj" fmla="val 6000"/>
            </a:avLst>
          </a:prstGeom>
          <a:solidFill>
            <a:srgbClr val="FAE9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부분 저장을 하지 않는다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근거 인용 하나라도 원문에서 확인되지 않으면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초안 전체를 버립니다. 「절반만 맞는 규칙」을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만들지 않기 위해서입니다.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840480"/>
            <a:ext cx="5358384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실패는 숨기지 않고 이름을 붙인다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span_not_in_text : 인용이 원문에 없다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span_missing : 값은 실었는데 근거가 없다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어긋난 위치(JSON 포인터)를 함께 남깁니다.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303520"/>
            <a:ext cx="11000232" cy="47548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추출된 초안은 그 자체로는 아무 판정에도 참여하지 않습니다 — 규칙관리자가 승인해야 비로소 규칙 버전이 됩니다 (다음 장).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0702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span 오프셋의 단위는 유니코드 코드포인트이고, 원문을 자르는 일은 서버가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REVIEW &amp; APPROVAL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규칙 관리 화면 · 승인 절차 · 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규칙을 바꾸는 유일한 경로는 사람의 승인이며, 그 권한은 서버가 강제합니다.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 초안이 pending 으로 쌓입니다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실패한 초안은 사유와 어긋난 위치를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함께 보이고 승인 버튼이 닫힙니다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 신고는 별도 유형으로 섭니다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1F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대기 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17263" y="2194560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원문과 근거 인용을 나란히 대조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변경 전 / 후 필드 diff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시 판정이 어떻게 바뀌는지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회귀 사례로 미리 보여줍니다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0767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검토 화면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42504" y="2194560"/>
            <a:ext cx="329184" cy="274320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4839" y="1481328"/>
            <a:ext cx="3349751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457200" bIns="128016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→ 불변 RuleVersion 생성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즉시 판정에 참여합니다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반려에는 사유가 필수입니다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둘 다 승인기록이 남습니다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6008" y="1609344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승인 · 반려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권한은 화면이 아니라 서버가 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02736"/>
            <a:ext cx="533552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상담원 (counselor)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화면의 내부 정보를 봅니다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현장에서 발견한 이상을 신고합니다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규칙 승인 API 호출은 403 으로 거부됩니다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3602736"/>
            <a:ext cx="5335524" cy="113385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규칙관리자 (rule_manager)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대기 큐와 검토 화면에 들어갑니다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승인·반려로 규칙 버전을 만듭니다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관측 지표 화면을 함께 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64608"/>
            <a:ext cx="11000232" cy="566928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19456" tIns="54864" bIns="54864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같은 초안을 둘이 동시에 승인해도 규칙 버전은 하나만 생깁니다 — 상태 검사와 상태 쓰기가 한 문장 안에 있는 조건부 갱신으로 선점합니다.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77840"/>
            <a:ext cx="1100023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역할 분리는 화면을 나눠서 얻는 것이 아닙니다. 화면은 하나이고, 막는 것은 서버입니다 — 상담원 세션으로 승인 API 를 직접 호출하면 403 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AUDIT &amp; PROVENANCE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감사 추적 · 관측 지표 · 값의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무엇이 이 숫자를 말했는가 — 값마다 출처와 검증 상태가 함께 다닙니다.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값의 계보 (Provenance)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E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맑은 고딕"/>
                <a:ea typeface="맑은 고딕"/>
                <a:cs typeface="맑은 고딕"/>
              </a:rPr>
              <a:t>verified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 문서를 열어 대조한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지역 시세 5필드 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국토교통부 실거래가 실측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8A00"/>
                </a:solidFill>
                <a:latin typeface="맑은 고딕"/>
                <a:ea typeface="맑은 고딕"/>
                <a:cs typeface="맑은 고딕"/>
              </a:rPr>
              <a:t>unverified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아직 특정하지 못한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관리비 · 시장 위험도 ·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조건과 금리의 시드값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0728" y="1755648"/>
            <a:ext cx="3483864" cy="1225296"/>
          </a:xfrm>
          <a:prstGeom prst="roundRect">
            <a:avLst>
              <a:gd name="adj" fmla="val 6000"/>
            </a:avLst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554"/>
                </a:solidFill>
                <a:latin typeface="맑은 고딕"/>
                <a:ea typeface="맑은 고딕"/>
                <a:cs typeface="맑은 고딕"/>
              </a:rPr>
              <a:t>our_choice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공표 준거가 없어 우리가 정한 값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예) 판정 임계·가중치 상당수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 사실을 그대로 적습니다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72384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API 응답은 계보와 상세 등급을 보존하고, 사용자 화면은 정책 출처와 확인할 사항을 안내합니다.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38144"/>
            <a:ext cx="5335524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감사 추적 (AuditEvent)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추출 · 승인 · 반려 · 신고가 남습니다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덧붙이기만 가능하며 지우는 경로가 없습니다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지운 기록은 감사 추적이 아니기 때문입니다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사유 본문은 파일 로그에 찍지 않습니다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9068" y="3438144"/>
            <a:ext cx="5335524" cy="14264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관측 지표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배치 상태 · 데이터 신선도 · 대기 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 호출 성공률과 지연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★ 없는 값을 0 으로 그리지 않습니다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임계가 미정인 것에는 판정선을 긋지 않습니다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010912"/>
            <a:ext cx="11000232" cy="658368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37744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확인되지 않은 값을 0으로 바꾸지 않습니다.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출처를 못 찾은 항목은 못 찾았다고 적고, 준거가 없는 선택은 우리 선택이라고 적습니다.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97296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자동 검사는 이 원칙이 API 응답과 기술설명서에 같은 기준으로 기록되는지 대조합니다.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OFFLINE &amp; REPRODUCIBILITY  ·  본선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오프라인 동작과 시연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네트워크를 실제로 끊고 같은 장면을 3회 재현했습니다.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무엇을 끊었나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무선을 끄고 그 상태를 유지했습니다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회차마다 5개 지점에서 차단을 확인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판정은 HTTPS 요청 한 갈래로만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무엇이 같았나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승인 → 시민 화면 변화 장면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 간 대조 항목 32개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불일치 0건 · 장면 오류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8" y="1481328"/>
            <a:ext cx="3483864" cy="12984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무엇이 실패해도 되나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네트워크가 필요한 것은 수집 배치뿐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실패해도 이전 값이 유지되고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계보가 stale 로 내려갑니다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11000232" cy="1133856"/>
          </a:xfrm>
          <a:prstGeom prst="roundRect">
            <a:avLst>
              <a:gd name="adj" fmla="val 6000"/>
            </a:avLst>
          </a:prstGeom>
          <a:solidFill>
            <a:srgbClr val="FAE9E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37744" tIns="146304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첫 판정을 우리 손으로 뒤집었습니다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처음에는 「3회 무오류」로 끝냈습니다. 그런데 차단을 확인해 보니 무선이 스스로 되살아나 있었습니다 — 「끊고 시작한 3회」였지 「끊은 상태의 3회」가 아니었습니다.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그래서 차단 방식을 바꾸고 회차마다 차단을 다시 확인한 뒤 처음부터 다시 돌았습니다. 통과한 회차를 골라 굳히지 않았습니다.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24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시연은 노트북 한 대에서 끝납니다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준비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저장소를 픽스처로 굳혀 커밋했습니다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클론 후 실행만으로 같은 상태가 섭니다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무대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시민 판정 → 상담원 신고 → 규칙 승인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→ 시민 화면 변화까지 한 흐름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4535424"/>
            <a:ext cx="3483864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28016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회차별 관측을 대본 문서에 적었습니다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채택하지 않은 회차와 그 사유까지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14416"/>
            <a:ext cx="11000232" cy="475488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73152" bIns="73152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재현이 값을 낸 자리는 통과가 아니라 실패였습니다 — 대본이 화면을 보지 않고 적어 둔 문장 둘을 이 재현이 걷어냈습니다.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UX FLOW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화면 흐름과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단일 페이지 3단 구성 — 입력에서 상담까지 이동 없이 이어집니다.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프로필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1956816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176272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2395728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2615184"/>
            <a:ext cx="935431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2852928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나이 · 소득 · 자산 · 부채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가구원수 · 희망 지역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무주택 / 신혼 / 중소기업 재직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33087" y="2487168"/>
            <a:ext cx="182880" cy="237744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결과 대시보드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5424" y="1956816"/>
            <a:ext cx="1714957" cy="20116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2249424"/>
            <a:ext cx="81070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2487168"/>
            <a:ext cx="81070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2724911"/>
            <a:ext cx="1714957" cy="128016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2962656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시나리오별 부담 막대 (인라인 SVG)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시나리오 비교 카드 · 적합도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정책 매칭 리스트 · 리스크 스코어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72983" y="2487168"/>
            <a:ext cx="182880" cy="237744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1444752"/>
            <a:ext cx="3520439" cy="2395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1444752"/>
            <a:ext cx="3520439" cy="384048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진단 결과 질문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1956816"/>
            <a:ext cx="1714957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157984"/>
            <a:ext cx="1184879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359152"/>
            <a:ext cx="1714957" cy="109728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560320"/>
            <a:ext cx="1714957" cy="146304"/>
          </a:xfrm>
          <a:prstGeom prst="roundRect">
            <a:avLst>
              <a:gd name="adj" fmla="val 2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5F6F8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2816352"/>
            <a:ext cx="1309603" cy="182880"/>
          </a:xfrm>
          <a:prstGeom prst="roundRect">
            <a:avLst>
              <a:gd name="adj" fmla="val 3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127248"/>
            <a:ext cx="3118103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자연어 후속 질문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엔진 결과 기반 답변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실패 시 저장된 안내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93192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스크롤 한 번으로 입력 → 판정 → 상담이 이어지며, 백엔드 미기동 시에도 생성물 기반 로컬 판정으로 화면 시연이 가능합니다.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프론트엔드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Vanilla HTML / CSS / JS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인라인 SVG 차트 직접 생성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빌드툴 · CDN 미사용 (오프라인 동작)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반응형 · 한국어 UI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8425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백엔드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Python 3.11+ · FastAPI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engines/ : 순수 함수 4종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store/ : SQLite (data/ 는 시드)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uvicorn + dev.bat 원클릭 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22492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AI 레이어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 프로바이더 추상화 계층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1순위 OpenAI function calling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2순위 Anthropic tool use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3순위 룰 기반 결정론 폴백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6557" y="4315968"/>
            <a:ext cx="2558034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146304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품질 · 검증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pytest 단위·교차 테스트 (경계값 포함)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입력 → 동일 출력 재현성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계약·아키텍처·생성물 자동 대조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네트워크 차단 상태 3회 재현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3387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외부 네트워크 의존을 최소화해 심사 환경에서 재현 가능한 실행을 우선했습니다.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DATA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정직성 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프로토타입에 사용된 수치의 성격과 한계를 명확히 밝힙니다.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11000232" cy="786384"/>
          </a:xfrm>
          <a:prstGeom prst="roundRect">
            <a:avLst>
              <a:gd name="adj" fmla="val 8000"/>
            </a:avLst>
          </a:prstGeom>
          <a:solidFill>
            <a:srgbClr val="FA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37744" tIns="9144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필수 고지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프로토타입 시연용 예시 수치입니다. 실제 조건은 취급 금융기관 고시 기준을 따릅니다.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금리 · 한도 수치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금리·한도·기간 값은 모두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시연을 위한 예시 수치입니다.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특정 금융회사의 실제 조건을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옮기거나 추정하지 않았습니다.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5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제도 요건 기술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연령(만 19~34세), 무주택 등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공개된 일반 요건 수준으로만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기술했습니다. 세부 심사 기준은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취급 기관·시점에 따라 다릅니다.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8425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통계 인용 원칙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명시할 수 없는 통계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수치는 인용하지 않았습니다.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문제 정의는 정성적 서술로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대체하고 참고 자료만 표기.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6557" y="2377440"/>
            <a:ext cx="255803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19456" rIns="18288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지역 시세 데이터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항목마다 다릅니다. 8필드 중 5개는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국토교통부 실거래가 실측값이고,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관리비·시장위험도·보증가능은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출처를 특정하지 못한 값입니다.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6557" y="2377440"/>
            <a:ext cx="255803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15968"/>
            <a:ext cx="6949440" cy="138988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19456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구조로 강제한 고지 — data/*.json 필수 필드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"source"       : 출처 기관명 (예: "주택도시기금", "국토교통부") — 전 항목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"disclaimer" : 정책 항목마다 동일 포함 (시세는 파일 단위 고지)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→ 데이터에 출처와 고지가 없으면 화면에도 노출되지 않는 구조입니다.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1" y="4315968"/>
            <a:ext cx="3794760" cy="138988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고지 노출 위치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서비스 화면 하단 상시 노출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API 응답 meta.disclaimer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정책 항목별 disclaimer 필드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본 기술설명서 18장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5216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본 산출물은 의사결정을 보조하는 참고 도구이며, 금융상품 청약·계약 권유나 투자 자문이 아닙니다.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7432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9A00"/>
                </a:solidFill>
                <a:latin typeface="맑은 고딕"/>
                <a:ea typeface="맑은 고딕"/>
                <a:cs typeface="맑은 고딕"/>
              </a:rPr>
              <a:t>BUSINESS FIT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금융 서비스 연계 · 기대효과 · 향후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1498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747A"/>
                </a:solidFill>
                <a:latin typeface="맑은 고딕"/>
                <a:ea typeface="맑은 고딕"/>
                <a:cs typeface="맑은 고딕"/>
              </a:rPr>
              <a:t>주택금융 접점에서 바로 쓰일 수 있는 판정 엔진을 지향합니다.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27648"/>
            <a:ext cx="11000232" cy="12801"/>
          </a:xfrm>
          <a:prstGeom prst="rect">
            <a:avLst/>
          </a:prstGeom>
          <a:solidFill>
            <a:srgbClr val="DC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DCDFE4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  ·  2026 금융 AI Challenge 기술설명서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382512"/>
            <a:ext cx="16276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19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사업 연결성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은행·보증기관의 핵심 사업영역인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주택금융·전세자금대출 접점과 직결됩니다.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첫 주거를 준비하는 청년 고객의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첫 접점 도구로 활용할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상담 품질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판정 결과와 근거 문자열이 함께 남아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상담원이 설명 근거로 그대로 사용하고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고객은 상담 전에 자기 상황을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정량적으로 파악한 채 방문합니다.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444752"/>
            <a:ext cx="3483864" cy="17007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37744" rIns="201168" tIns="402336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도입 유연성</a:t>
            </a:r>
          </a:p>
          <a:p>
            <a:pPr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모든 판정에 rationale이 동반되어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입력에 동일 결과가 재현되고,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LLM은 프로바이더 교체만으로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내부망 전용 모델로 전환 가능합니다.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444752"/>
            <a:ext cx="68580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8472" y="1591056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향후 확장 로드맵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4대 엔진 · 대시보드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AI 상담 (현재)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06673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5857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데이터 연동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공신력 있는 시세·정책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데이터 소스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449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8171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7355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상품 연계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기관별 주택금융 상품 카탈로그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내부망 모델 전환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1947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89669" y="4078224"/>
            <a:ext cx="292608" cy="256032"/>
          </a:xfrm>
          <a:prstGeom prst="rightArrow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0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18853" y="3639312"/>
            <a:ext cx="2475737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 tIns="365760" bIns="91440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맑은 고딕"/>
                <a:ea typeface="맑은 고딕"/>
                <a:cs typeface="맑은 고딕"/>
              </a:rPr>
              <a:t>사후 관리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계약 이후 주거비 모니터링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· 갱신 시점 재판정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3445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Phase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74336"/>
            <a:ext cx="11000232" cy="10058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10896" rIns="274320" tIns="164592" bIns="109728" wrap="square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800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청년에게 필요한 것은 더 많은 상품 정보가 아니라, “나는 지금 얼마짜리 집에 살아도 되는가”에 대한 답입니다.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200" b="0" i="0">
                <a:solidFill>
                  <a:srgbClr val="9A9EA5"/>
                </a:solidFill>
                <a:latin typeface="맑은 고딕"/>
                <a:ea typeface="맑은 고딕"/>
                <a:cs typeface="맑은 고딕"/>
              </a:rPr>
              <a:t>Home_Compass는 그 답을 숫자와 근거로 제시하고, 실행 가능한 다음 단계까지 연결합니다.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Home_Compass 기술설명서</dc:title>
  <dc:subject>2026 금융 AI Challenge</dc:subject>
  <dc:creator>Home_Compass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